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98" r:id="rId3"/>
    <p:sldId id="310" r:id="rId4"/>
    <p:sldId id="321" r:id="rId5"/>
    <p:sldId id="319" r:id="rId6"/>
    <p:sldId id="312" r:id="rId7"/>
    <p:sldId id="318" r:id="rId8"/>
    <p:sldId id="314" r:id="rId9"/>
    <p:sldId id="326" r:id="rId10"/>
    <p:sldId id="320" r:id="rId11"/>
    <p:sldId id="297" r:id="rId12"/>
    <p:sldId id="322" r:id="rId13"/>
    <p:sldId id="323" r:id="rId14"/>
    <p:sldId id="324" r:id="rId15"/>
    <p:sldId id="325" r:id="rId16"/>
    <p:sldId id="265" r:id="rId17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/>
          <a:stretch>
            <a:fillRect t="-40" b="-4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3200" b="1" dirty="0"/>
              <a:t>基于多模态</a:t>
            </a:r>
            <a:r>
              <a:rPr lang="en-US" altLang="zh-CN" sz="3200" b="1" dirty="0"/>
              <a:t>AI</a:t>
            </a:r>
            <a:r>
              <a:rPr lang="zh-CN" altLang="en-US" sz="3200" b="1" dirty="0"/>
              <a:t>教练进行训练负荷优化的效果研究：一项针对自我指导训练者的随机对照试验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rgbClr val="FF0000"/>
                </a:solidFill>
                <a:latin typeface="微软雅黑" charset="0"/>
                <a:ea typeface="微软雅黑" charset="0"/>
              </a:rPr>
              <a:t>The Effects of a Multimodal AI Coach on Training Load Optimization for Self-guided Trainers: A Randomized Controlled Trial</a:t>
            </a:r>
            <a:endParaRPr lang="zh-CN" altLang="en-US" sz="2000" dirty="0">
              <a:solidFill>
                <a:srgbClr val="FF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E9F33AF2-7539-FF4B-33B0-6B231E938B1C}"/>
              </a:ext>
            </a:extLst>
          </p:cNvPr>
          <p:cNvSpPr txBox="1">
            <a:spLocks/>
          </p:cNvSpPr>
          <p:nvPr/>
        </p:nvSpPr>
        <p:spPr>
          <a:xfrm>
            <a:off x="1523968" y="4671157"/>
            <a:ext cx="9144000" cy="4697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zh-CN" altLang="en-US"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altLang="zh-CN"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altLang="zh-CN"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altLang="zh-CN"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9pPr>
          </a:lstStyle>
          <a:p>
            <a:r>
              <a:rPr lang="en-US" altLang="zh-CN" dirty="0">
                <a:latin typeface="微软雅黑" charset="0"/>
                <a:ea typeface="微软雅黑" charset="0"/>
              </a:rPr>
              <a:t>2025</a:t>
            </a:r>
            <a:r>
              <a:rPr lang="zh-CN" altLang="en-US" dirty="0">
                <a:latin typeface="微软雅黑" charset="0"/>
                <a:ea typeface="微软雅黑" charset="0"/>
              </a:rPr>
              <a:t>年</a:t>
            </a:r>
            <a:r>
              <a:rPr lang="en-US" altLang="zh-CN" dirty="0">
                <a:latin typeface="微软雅黑" charset="0"/>
                <a:ea typeface="微软雅黑" charset="0"/>
              </a:rPr>
              <a:t>10</a:t>
            </a:r>
            <a:r>
              <a:rPr lang="zh-CN" altLang="en-US" dirty="0">
                <a:latin typeface="微软雅黑" charset="0"/>
                <a:ea typeface="微软雅黑" charset="0"/>
              </a:rPr>
              <a:t>月</a:t>
            </a:r>
            <a:r>
              <a:rPr lang="en-US" altLang="zh-CN" dirty="0">
                <a:latin typeface="微软雅黑" charset="0"/>
                <a:ea typeface="微软雅黑" charset="0"/>
              </a:rPr>
              <a:t>6</a:t>
            </a:r>
            <a:r>
              <a:rPr lang="zh-CN" altLang="en-US" dirty="0">
                <a:latin typeface="微软雅黑" charset="0"/>
                <a:ea typeface="微软雅黑" charset="0"/>
              </a:rPr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F6BF3-7214-91B4-2AF0-90A1E3DDE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84" y="1413747"/>
            <a:ext cx="10515600" cy="756978"/>
          </a:xfrm>
        </p:spPr>
        <p:txBody>
          <a:bodyPr/>
          <a:lstStyle/>
          <a:p>
            <a:r>
              <a:rPr lang="zh-CN" altLang="en-US" b="1" dirty="0"/>
              <a:t> 科学训练的“理想”与“现实”</a:t>
            </a:r>
            <a:endParaRPr lang="zh-CN" altLang="en-US" dirty="0"/>
          </a:p>
        </p:txBody>
      </p:sp>
      <p:pic>
        <p:nvPicPr>
          <p:cNvPr id="4" name="Picture 6" descr="Best Gyms In Singapore For Workouts And Personal Training">
            <a:extLst>
              <a:ext uri="{FF2B5EF4-FFF2-40B4-BE49-F238E27FC236}">
                <a16:creationId xmlns:a16="http://schemas.microsoft.com/office/drawing/2014/main" id="{ED302077-0BB2-DCFC-34D7-92ED26C22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84" y="2645232"/>
            <a:ext cx="3079347" cy="219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ow To Start Velocity Based Training (VBT) - GymAware">
            <a:extLst>
              <a:ext uri="{FF2B5EF4-FFF2-40B4-BE49-F238E27FC236}">
                <a16:creationId xmlns:a16="http://schemas.microsoft.com/office/drawing/2014/main" id="{31095602-BEF2-3CDC-96C9-A227E789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26" y="2645231"/>
            <a:ext cx="3079348" cy="2199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人工智能的基本原理和概念是什么？-CSDN博客">
            <a:extLst>
              <a:ext uri="{FF2B5EF4-FFF2-40B4-BE49-F238E27FC236}">
                <a16:creationId xmlns:a16="http://schemas.microsoft.com/office/drawing/2014/main" id="{2520A11D-D1F4-21CB-15F8-E23CDD1C9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437" y="2645230"/>
            <a:ext cx="3079347" cy="2199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862D417-8196-8EB3-EDE3-17AC5703EC94}"/>
              </a:ext>
            </a:extLst>
          </p:cNvPr>
          <p:cNvSpPr txBox="1"/>
          <p:nvPr/>
        </p:nvSpPr>
        <p:spPr>
          <a:xfrm>
            <a:off x="838183" y="5036795"/>
            <a:ext cx="3079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大众健身的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Inter"/>
              </a:rPr>
              <a:t>指导鸿沟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A6BDF8-1032-D09C-BBEF-938D2AD3ED51}"/>
              </a:ext>
            </a:extLst>
          </p:cNvPr>
          <p:cNvSpPr txBox="1"/>
          <p:nvPr/>
        </p:nvSpPr>
        <p:spPr>
          <a:xfrm>
            <a:off x="4556326" y="5036795"/>
            <a:ext cx="3079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传统监控的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Inter"/>
              </a:rPr>
              <a:t>技术壁垒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5F4D42-540D-2FF8-EE85-2465C8403FA0}"/>
              </a:ext>
            </a:extLst>
          </p:cNvPr>
          <p:cNvSpPr txBox="1"/>
          <p:nvPr/>
        </p:nvSpPr>
        <p:spPr>
          <a:xfrm>
            <a:off x="8274437" y="5036795"/>
            <a:ext cx="3079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人工智能的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Inter"/>
              </a:rPr>
              <a:t>范式革命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418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3D2A007-82C4-5CAD-4F0B-E7106F16836F}"/>
              </a:ext>
            </a:extLst>
          </p:cNvPr>
          <p:cNvSpPr/>
          <p:nvPr/>
        </p:nvSpPr>
        <p:spPr>
          <a:xfrm>
            <a:off x="2783861" y="1520229"/>
            <a:ext cx="1567543" cy="6484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altLang="zh-CN" dirty="0"/>
              <a:t>VBT</a:t>
            </a:r>
            <a:r>
              <a:rPr lang="zh-CN" altLang="en-US" dirty="0"/>
              <a:t>理论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87305E-05A4-B985-C25F-C0AF078C1B96}"/>
              </a:ext>
            </a:extLst>
          </p:cNvPr>
          <p:cNvSpPr/>
          <p:nvPr/>
        </p:nvSpPr>
        <p:spPr>
          <a:xfrm>
            <a:off x="2783861" y="2917054"/>
            <a:ext cx="1567543" cy="6484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altLang="zh-CN" dirty="0"/>
              <a:t>CV</a:t>
            </a:r>
            <a:r>
              <a:rPr lang="zh-CN" altLang="en-US" dirty="0"/>
              <a:t>理论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AA0F08-33E1-35F7-BB66-DEE42D6E523F}"/>
              </a:ext>
            </a:extLst>
          </p:cNvPr>
          <p:cNvSpPr/>
          <p:nvPr/>
        </p:nvSpPr>
        <p:spPr>
          <a:xfrm>
            <a:off x="2783861" y="4313879"/>
            <a:ext cx="1567543" cy="6484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altLang="zh-CN" dirty="0"/>
              <a:t>LLM</a:t>
            </a:r>
            <a:r>
              <a:rPr lang="zh-CN" altLang="en-US" dirty="0"/>
              <a:t>技术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08074A6-34D3-5F95-990D-85079A67FDCB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4351404" y="1844468"/>
            <a:ext cx="1830841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文本框 22">
            <a:extLst>
              <a:ext uri="{FF2B5EF4-FFF2-40B4-BE49-F238E27FC236}">
                <a16:creationId xmlns:a16="http://schemas.microsoft.com/office/drawing/2014/main" id="{BB6B45E8-300A-EAF6-A51D-0EDA20DE61F1}"/>
              </a:ext>
            </a:extLst>
          </p:cNvPr>
          <p:cNvSpPr txBox="1"/>
          <p:nvPr/>
        </p:nvSpPr>
        <p:spPr>
          <a:xfrm>
            <a:off x="6182245" y="1659802"/>
            <a:ext cx="4013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rgbClr val="1A1C1E"/>
                </a:solidFill>
                <a:latin typeface="Inter"/>
              </a:rPr>
              <a:t>金标准，科学，但</a:t>
            </a:r>
            <a:r>
              <a:rPr lang="zh-CN" altLang="en-US" b="1" dirty="0">
                <a:solidFill>
                  <a:srgbClr val="FF0000"/>
                </a:solidFill>
                <a:latin typeface="Inter"/>
              </a:rPr>
              <a:t>依赖昂贵设备</a:t>
            </a:r>
            <a:r>
              <a:rPr lang="zh-CN" altLang="en-US" b="1" dirty="0">
                <a:solidFill>
                  <a:srgbClr val="1A1C1E"/>
                </a:solidFill>
                <a:latin typeface="Inter"/>
              </a:rPr>
              <a:t>。</a:t>
            </a:r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463A7E0-4615-8446-5CE7-B101FA8BC559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 flipV="1">
            <a:off x="4351404" y="3241292"/>
            <a:ext cx="1830841" cy="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文本框 22">
            <a:extLst>
              <a:ext uri="{FF2B5EF4-FFF2-40B4-BE49-F238E27FC236}">
                <a16:creationId xmlns:a16="http://schemas.microsoft.com/office/drawing/2014/main" id="{086E2A5A-03AF-7325-9159-E9A992E266D8}"/>
              </a:ext>
            </a:extLst>
          </p:cNvPr>
          <p:cNvSpPr txBox="1"/>
          <p:nvPr/>
        </p:nvSpPr>
        <p:spPr>
          <a:xfrm>
            <a:off x="6182245" y="3056626"/>
            <a:ext cx="5388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rgbClr val="1A1C1E"/>
                </a:solidFill>
                <a:latin typeface="Inter"/>
              </a:rPr>
              <a:t>低成本，实现了“客观测量”，但可能</a:t>
            </a:r>
            <a:r>
              <a:rPr lang="zh-CN" altLang="en-US" b="1" dirty="0">
                <a:solidFill>
                  <a:srgbClr val="FF0000"/>
                </a:solidFill>
                <a:latin typeface="Inter"/>
              </a:rPr>
              <a:t>精度不足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B789C03-1C24-1EFC-590F-6E91BD45C79E}"/>
              </a:ext>
            </a:extLst>
          </p:cNvPr>
          <p:cNvCxnSpPr>
            <a:cxnSpLocks/>
            <a:stCxn id="6" idx="3"/>
            <a:endCxn id="27" idx="1"/>
          </p:cNvCxnSpPr>
          <p:nvPr/>
        </p:nvCxnSpPr>
        <p:spPr>
          <a:xfrm flipV="1">
            <a:off x="4351404" y="4638116"/>
            <a:ext cx="1830841" cy="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文本框 22">
            <a:extLst>
              <a:ext uri="{FF2B5EF4-FFF2-40B4-BE49-F238E27FC236}">
                <a16:creationId xmlns:a16="http://schemas.microsoft.com/office/drawing/2014/main" id="{5A971D10-DFFD-220F-D619-383E14FDFED7}"/>
              </a:ext>
            </a:extLst>
          </p:cNvPr>
          <p:cNvSpPr txBox="1"/>
          <p:nvPr/>
        </p:nvSpPr>
        <p:spPr>
          <a:xfrm>
            <a:off x="6182245" y="4453450"/>
            <a:ext cx="4013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rgbClr val="1A1C1E"/>
                </a:solidFill>
                <a:latin typeface="Inter"/>
              </a:rPr>
              <a:t>潜力巨大，但缺乏“</a:t>
            </a:r>
            <a:r>
              <a:rPr lang="zh-CN" altLang="en-US" b="1" dirty="0">
                <a:solidFill>
                  <a:srgbClr val="FF0000"/>
                </a:solidFill>
                <a:latin typeface="Inter"/>
              </a:rPr>
              <a:t>实时感知</a:t>
            </a:r>
            <a:r>
              <a:rPr lang="zh-CN" altLang="en-US" b="1" dirty="0">
                <a:solidFill>
                  <a:srgbClr val="1A1C1E"/>
                </a:solidFill>
                <a:latin typeface="Inter"/>
              </a:rPr>
              <a:t>”。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695C88B9-9E1B-822E-1C7F-DC8528275BE8}"/>
              </a:ext>
            </a:extLst>
          </p:cNvPr>
          <p:cNvCxnSpPr>
            <a:stCxn id="5" idx="1"/>
            <a:endCxn id="4" idx="1"/>
          </p:cNvCxnSpPr>
          <p:nvPr/>
        </p:nvCxnSpPr>
        <p:spPr>
          <a:xfrm rot="10800000">
            <a:off x="2783861" y="1844469"/>
            <a:ext cx="12700" cy="1396825"/>
          </a:xfrm>
          <a:prstGeom prst="bentConnector3">
            <a:avLst>
              <a:gd name="adj1" fmla="val 1800000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文本框 22">
            <a:extLst>
              <a:ext uri="{FF2B5EF4-FFF2-40B4-BE49-F238E27FC236}">
                <a16:creationId xmlns:a16="http://schemas.microsoft.com/office/drawing/2014/main" id="{0209B1B4-0775-E976-1DE5-13D954498A20}"/>
              </a:ext>
            </a:extLst>
          </p:cNvPr>
          <p:cNvSpPr txBox="1"/>
          <p:nvPr/>
        </p:nvSpPr>
        <p:spPr>
          <a:xfrm>
            <a:off x="2078903" y="1942717"/>
            <a:ext cx="5209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rgbClr val="1A1C1E"/>
                </a:solidFill>
                <a:latin typeface="Inter"/>
              </a:rPr>
              <a:t>降低成本</a:t>
            </a:r>
            <a:endParaRPr lang="zh-CN" altLang="en-US" dirty="0"/>
          </a:p>
        </p:txBody>
      </p: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FA364A2F-3B5D-36A1-B340-0E3E5C5FE53D}"/>
              </a:ext>
            </a:extLst>
          </p:cNvPr>
          <p:cNvCxnSpPr>
            <a:stCxn id="4" idx="1"/>
            <a:endCxn id="6" idx="1"/>
          </p:cNvCxnSpPr>
          <p:nvPr/>
        </p:nvCxnSpPr>
        <p:spPr>
          <a:xfrm rot="10800000" flipV="1">
            <a:off x="2783861" y="1844468"/>
            <a:ext cx="12700" cy="2793650"/>
          </a:xfrm>
          <a:prstGeom prst="bentConnector3">
            <a:avLst>
              <a:gd name="adj1" fmla="val 10190976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756B69F3-F47E-7BE6-61E9-53380706ED16}"/>
              </a:ext>
            </a:extLst>
          </p:cNvPr>
          <p:cNvCxnSpPr>
            <a:cxnSpLocks/>
            <a:stCxn id="5" idx="1"/>
            <a:endCxn id="6" idx="1"/>
          </p:cNvCxnSpPr>
          <p:nvPr/>
        </p:nvCxnSpPr>
        <p:spPr>
          <a:xfrm rot="10800000" flipV="1">
            <a:off x="2783861" y="3241292"/>
            <a:ext cx="12700" cy="1396825"/>
          </a:xfrm>
          <a:prstGeom prst="bentConnector3">
            <a:avLst>
              <a:gd name="adj1" fmla="val 5156386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文本框 22">
            <a:extLst>
              <a:ext uri="{FF2B5EF4-FFF2-40B4-BE49-F238E27FC236}">
                <a16:creationId xmlns:a16="http://schemas.microsoft.com/office/drawing/2014/main" id="{66776454-120E-40C8-F766-691C96AEC003}"/>
              </a:ext>
            </a:extLst>
          </p:cNvPr>
          <p:cNvSpPr txBox="1"/>
          <p:nvPr/>
        </p:nvSpPr>
        <p:spPr>
          <a:xfrm>
            <a:off x="1622756" y="3339539"/>
            <a:ext cx="5209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/>
              <a:t>提供感知</a:t>
            </a:r>
          </a:p>
        </p:txBody>
      </p:sp>
      <p:sp>
        <p:nvSpPr>
          <p:cNvPr id="43" name="文本框 22">
            <a:extLst>
              <a:ext uri="{FF2B5EF4-FFF2-40B4-BE49-F238E27FC236}">
                <a16:creationId xmlns:a16="http://schemas.microsoft.com/office/drawing/2014/main" id="{A4F4C574-436C-7B72-E4A3-F42DF2E68B0C}"/>
              </a:ext>
            </a:extLst>
          </p:cNvPr>
          <p:cNvSpPr txBox="1"/>
          <p:nvPr/>
        </p:nvSpPr>
        <p:spPr>
          <a:xfrm>
            <a:off x="928116" y="2641127"/>
            <a:ext cx="5209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/>
              <a:t>赋能分析</a:t>
            </a:r>
          </a:p>
        </p:txBody>
      </p:sp>
      <p:sp>
        <p:nvSpPr>
          <p:cNvPr id="44" name="文本框 22">
            <a:extLst>
              <a:ext uri="{FF2B5EF4-FFF2-40B4-BE49-F238E27FC236}">
                <a16:creationId xmlns:a16="http://schemas.microsoft.com/office/drawing/2014/main" id="{04209CA8-4ABD-2D5F-8CDC-1810A5856B8E}"/>
              </a:ext>
            </a:extLst>
          </p:cNvPr>
          <p:cNvSpPr txBox="1"/>
          <p:nvPr/>
        </p:nvSpPr>
        <p:spPr>
          <a:xfrm>
            <a:off x="2981627" y="5480942"/>
            <a:ext cx="64012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1A1C1E"/>
                </a:solidFill>
                <a:highlight>
                  <a:srgbClr val="FFFF00"/>
                </a:highlight>
                <a:latin typeface="Inter"/>
              </a:rPr>
              <a:t>“感知</a:t>
            </a:r>
            <a:r>
              <a:rPr lang="en-US" altLang="zh-CN" sz="2000" b="1" dirty="0">
                <a:solidFill>
                  <a:srgbClr val="1A1C1E"/>
                </a:solidFill>
                <a:highlight>
                  <a:srgbClr val="FFFF00"/>
                </a:highlight>
                <a:latin typeface="Inter"/>
              </a:rPr>
              <a:t>-</a:t>
            </a:r>
            <a:r>
              <a:rPr lang="zh-CN" altLang="en-US" sz="2000" b="1" dirty="0">
                <a:solidFill>
                  <a:srgbClr val="1A1C1E"/>
                </a:solidFill>
                <a:highlight>
                  <a:srgbClr val="FFFF00"/>
                </a:highlight>
                <a:latin typeface="Inter"/>
              </a:rPr>
              <a:t>认知分离”是当前领域的核心研究缺口。</a:t>
            </a:r>
            <a:endParaRPr lang="zh-CN" altLang="en-US" sz="2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27382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057C8D-6F6A-F686-48B9-42ABB1330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实验方案的可行性论证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9DAD7A-DED9-C6CC-92A1-5F200EF7F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怎么去保证</a:t>
            </a:r>
            <a:r>
              <a:rPr lang="zh-CN" altLang="en-US" b="1" dirty="0"/>
              <a:t>科学性与严谨性？</a:t>
            </a:r>
          </a:p>
        </p:txBody>
      </p:sp>
    </p:spTree>
    <p:extLst>
      <p:ext uri="{BB962C8B-B14F-4D97-AF65-F5344CB8AC3E}">
        <p14:creationId xmlns:p14="http://schemas.microsoft.com/office/powerpoint/2010/main" val="1914482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">
            <a:extLst>
              <a:ext uri="{FF2B5EF4-FFF2-40B4-BE49-F238E27FC236}">
                <a16:creationId xmlns:a16="http://schemas.microsoft.com/office/drawing/2014/main" id="{DACE2802-9D7A-9EE9-BE84-660950809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28" y="1116694"/>
            <a:ext cx="4260915" cy="4903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图片 1">
            <a:extLst>
              <a:ext uri="{FF2B5EF4-FFF2-40B4-BE49-F238E27FC236}">
                <a16:creationId xmlns:a16="http://schemas.microsoft.com/office/drawing/2014/main" id="{B00E2D21-4740-96AF-4605-8D9B97DDD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654" y="1116694"/>
            <a:ext cx="6609318" cy="337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04E0C50-90AE-CDFA-E0CE-5A48AAFA8DD6}"/>
              </a:ext>
            </a:extLst>
          </p:cNvPr>
          <p:cNvSpPr txBox="1"/>
          <p:nvPr/>
        </p:nvSpPr>
        <p:spPr>
          <a:xfrm>
            <a:off x="5075652" y="4542974"/>
            <a:ext cx="660931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效应量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f=0.25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（中等，稳健）</a:t>
            </a:r>
            <a:endParaRPr lang="en-US" altLang="zh-CN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ctr"/>
            <a:endParaRPr lang="en-US" altLang="zh-CN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ctr"/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功效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=0.90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（高标准），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若选取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0.8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，只需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30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人</a:t>
            </a:r>
            <a:endParaRPr lang="en-US" altLang="zh-CN" b="0" i="0" dirty="0">
              <a:solidFill>
                <a:srgbClr val="FF0000"/>
              </a:solidFill>
              <a:effectLst/>
              <a:latin typeface="-apple-system"/>
            </a:endParaRPr>
          </a:p>
          <a:p>
            <a:pPr algn="ctr"/>
            <a:endParaRPr lang="en-US" altLang="zh-CN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ctr"/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总样本量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N=40-44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（含脱落缓冲）。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0779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4">
            <a:extLst>
              <a:ext uri="{FF2B5EF4-FFF2-40B4-BE49-F238E27FC236}">
                <a16:creationId xmlns:a16="http://schemas.microsoft.com/office/drawing/2014/main" id="{E1262FD7-9C84-EC62-DEC5-483E00E22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94" y="995246"/>
            <a:ext cx="8455949" cy="5206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1FCF388B-2D84-283B-724C-FC868D50C2E0}"/>
              </a:ext>
            </a:extLst>
          </p:cNvPr>
          <p:cNvGrpSpPr/>
          <p:nvPr/>
        </p:nvGrpSpPr>
        <p:grpSpPr>
          <a:xfrm>
            <a:off x="6182511" y="995246"/>
            <a:ext cx="5880149" cy="2112976"/>
            <a:chOff x="2531355" y="807273"/>
            <a:chExt cx="5880149" cy="2112976"/>
          </a:xfrm>
        </p:grpSpPr>
        <p:pic>
          <p:nvPicPr>
            <p:cNvPr id="17" name="图形 16" descr="孩子 轮廓">
              <a:extLst>
                <a:ext uri="{FF2B5EF4-FFF2-40B4-BE49-F238E27FC236}">
                  <a16:creationId xmlns:a16="http://schemas.microsoft.com/office/drawing/2014/main" id="{9E01D7CC-6088-DA84-D859-53633C9C1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10059" y="807273"/>
              <a:ext cx="1683275" cy="1683275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4417E48-3536-F4D8-F8BC-595F719BBD19}"/>
                </a:ext>
              </a:extLst>
            </p:cNvPr>
            <p:cNvSpPr txBox="1"/>
            <p:nvPr/>
          </p:nvSpPr>
          <p:spPr>
            <a:xfrm>
              <a:off x="5291887" y="2305882"/>
              <a:ext cx="311961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i="0" dirty="0">
                  <a:solidFill>
                    <a:srgbClr val="1A1C1E"/>
                  </a:solidFill>
                  <a:effectLst/>
                  <a:latin typeface="Inter"/>
                </a:rPr>
                <a:t>有</a:t>
              </a:r>
              <a:r>
                <a:rPr lang="zh-CN" altLang="en-US" b="1" dirty="0">
                  <a:solidFill>
                    <a:srgbClr val="1A1C1E"/>
                  </a:solidFill>
                  <a:latin typeface="Inter"/>
                </a:rPr>
                <a:t>经验</a:t>
              </a:r>
              <a:r>
                <a:rPr lang="zh-CN" altLang="en-US" b="1" i="0" dirty="0">
                  <a:solidFill>
                    <a:srgbClr val="1A1C1E"/>
                  </a:solidFill>
                  <a:effectLst/>
                  <a:latin typeface="Inter"/>
                </a:rPr>
                <a:t>的男性抗阻训练者 </a:t>
              </a:r>
              <a:endParaRPr lang="zh-CN" altLang="en-US" b="1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B46EADB-BF87-B3E9-0AB8-1E36ECF5E9B8}"/>
                </a:ext>
              </a:extLst>
            </p:cNvPr>
            <p:cNvSpPr txBox="1"/>
            <p:nvPr/>
          </p:nvSpPr>
          <p:spPr>
            <a:xfrm>
              <a:off x="5704129" y="2643250"/>
              <a:ext cx="2301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0" i="0" dirty="0">
                  <a:solidFill>
                    <a:srgbClr val="FF0000"/>
                  </a:solidFill>
                  <a:effectLst/>
                  <a:latin typeface="Inter"/>
                </a:rPr>
                <a:t>1</a:t>
              </a:r>
              <a:r>
                <a:rPr lang="zh-CN" altLang="en-US" sz="1200" b="0" i="0" dirty="0">
                  <a:solidFill>
                    <a:srgbClr val="FF0000"/>
                  </a:solidFill>
                  <a:effectLst/>
                  <a:latin typeface="Inter"/>
                </a:rPr>
                <a:t>年以上经验，深蹲</a:t>
              </a:r>
              <a:r>
                <a:rPr lang="en-US" altLang="zh-CN" sz="1200" b="0" i="0" dirty="0">
                  <a:solidFill>
                    <a:srgbClr val="FF0000"/>
                  </a:solidFill>
                  <a:effectLst/>
                  <a:latin typeface="Inter"/>
                </a:rPr>
                <a:t>&gt;1.2</a:t>
              </a:r>
              <a:r>
                <a:rPr lang="zh-CN" altLang="en-US" sz="1200" b="0" i="0" dirty="0">
                  <a:solidFill>
                    <a:srgbClr val="FF0000"/>
                  </a:solidFill>
                  <a:effectLst/>
                  <a:latin typeface="Inter"/>
                </a:rPr>
                <a:t>倍体重</a:t>
              </a:r>
              <a:endParaRPr lang="zh-CN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D231FC5-27BF-0065-85B0-F9D8CD5926DD}"/>
                </a:ext>
              </a:extLst>
            </p:cNvPr>
            <p:cNvSpPr txBox="1"/>
            <p:nvPr/>
          </p:nvSpPr>
          <p:spPr>
            <a:xfrm>
              <a:off x="2531355" y="1077333"/>
              <a:ext cx="311961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1A1C1E"/>
                  </a:solidFill>
                  <a:latin typeface="Inter"/>
                </a:rPr>
                <a:t>本科大二体能班</a:t>
              </a:r>
              <a:endParaRPr lang="zh-CN" altLang="en-US" b="1" dirty="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F3906E4-C325-3A10-BDD8-59B8217D68EE}"/>
              </a:ext>
            </a:extLst>
          </p:cNvPr>
          <p:cNvGrpSpPr/>
          <p:nvPr/>
        </p:nvGrpSpPr>
        <p:grpSpPr>
          <a:xfrm>
            <a:off x="9100028" y="3749779"/>
            <a:ext cx="2962632" cy="1658249"/>
            <a:chOff x="8799095" y="1016965"/>
            <a:chExt cx="2962632" cy="1658249"/>
          </a:xfrm>
        </p:grpSpPr>
        <p:pic>
          <p:nvPicPr>
            <p:cNvPr id="21" name="图形 20" descr="放大镜 轮廓">
              <a:extLst>
                <a:ext uri="{FF2B5EF4-FFF2-40B4-BE49-F238E27FC236}">
                  <a16:creationId xmlns:a16="http://schemas.microsoft.com/office/drawing/2014/main" id="{21E07173-0E6A-0CCE-2BE7-53592C80C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57657" y="1016965"/>
              <a:ext cx="1263889" cy="1263889"/>
            </a:xfrm>
            <a:prstGeom prst="rect">
              <a:avLst/>
            </a:prstGeom>
          </p:spPr>
        </p:pic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580896E-BC85-DC6F-262E-AE7CC5531566}"/>
                </a:ext>
              </a:extLst>
            </p:cNvPr>
            <p:cNvSpPr txBox="1"/>
            <p:nvPr/>
          </p:nvSpPr>
          <p:spPr>
            <a:xfrm>
              <a:off x="8799095" y="2305882"/>
              <a:ext cx="29626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i="0" dirty="0">
                  <a:solidFill>
                    <a:srgbClr val="1A1C1E"/>
                  </a:solidFill>
                  <a:effectLst/>
                  <a:highlight>
                    <a:srgbClr val="FFFF00"/>
                  </a:highlight>
                  <a:latin typeface="Inter"/>
                </a:rPr>
                <a:t>单盲</a:t>
              </a:r>
              <a:r>
                <a:rPr lang="zh-CN" altLang="en-US" b="1" i="0" dirty="0">
                  <a:solidFill>
                    <a:srgbClr val="1A1C1E"/>
                  </a:solidFill>
                  <a:effectLst/>
                  <a:latin typeface="Inter"/>
                </a:rPr>
                <a:t>、双臂、三测 </a:t>
              </a:r>
              <a:r>
                <a:rPr lang="en-US" altLang="zh-CN" b="1" i="0" dirty="0">
                  <a:solidFill>
                    <a:srgbClr val="1A1C1E"/>
                  </a:solidFill>
                  <a:effectLst/>
                  <a:latin typeface="Inter"/>
                </a:rPr>
                <a:t>RCT</a:t>
              </a:r>
              <a:endParaRPr lang="zh-CN" altLang="en-US" b="1" dirty="0"/>
            </a:p>
          </p:txBody>
        </p:sp>
      </p:grp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E3C5625-5401-2695-FBFC-B4B35D37A5AC}"/>
              </a:ext>
            </a:extLst>
          </p:cNvPr>
          <p:cNvCxnSpPr/>
          <p:nvPr/>
        </p:nvCxnSpPr>
        <p:spPr>
          <a:xfrm>
            <a:off x="8649478" y="1595535"/>
            <a:ext cx="886408" cy="34523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942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21">
            <a:extLst>
              <a:ext uri="{FF2B5EF4-FFF2-40B4-BE49-F238E27FC236}">
                <a16:creationId xmlns:a16="http://schemas.microsoft.com/office/drawing/2014/main" id="{E8D79AA9-A8F3-E21B-8FAD-921EA7605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41" y="1022118"/>
            <a:ext cx="7661401" cy="5067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形 3" descr="智能手机 轮廓">
            <a:extLst>
              <a:ext uri="{FF2B5EF4-FFF2-40B4-BE49-F238E27FC236}">
                <a16:creationId xmlns:a16="http://schemas.microsoft.com/office/drawing/2014/main" id="{BA0F5787-1280-4023-E327-F6A9CB1940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83899" y="1184164"/>
            <a:ext cx="1665098" cy="166509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B3C0181-641D-64F3-B267-D4181409A4A2}"/>
              </a:ext>
            </a:extLst>
          </p:cNvPr>
          <p:cNvSpPr txBox="1"/>
          <p:nvPr/>
        </p:nvSpPr>
        <p:spPr>
          <a:xfrm>
            <a:off x="8392162" y="2959990"/>
            <a:ext cx="3048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实验室金标准验证</a:t>
            </a:r>
            <a:r>
              <a:rPr lang="zh-CN" altLang="en-US" b="1" dirty="0">
                <a:solidFill>
                  <a:srgbClr val="1A1C1E"/>
                </a:solidFill>
                <a:latin typeface="Inter"/>
              </a:rPr>
              <a:t>（</a:t>
            </a:r>
            <a:r>
              <a:rPr lang="zh-CN" altLang="en-US" b="1" dirty="0">
                <a:solidFill>
                  <a:srgbClr val="FF0000"/>
                </a:solidFill>
                <a:latin typeface="Inter"/>
              </a:rPr>
              <a:t>信效度</a:t>
            </a:r>
            <a:r>
              <a:rPr lang="zh-CN" altLang="en-US" b="1" dirty="0">
                <a:solidFill>
                  <a:srgbClr val="1A1C1E"/>
                </a:solidFill>
                <a:latin typeface="Inter"/>
              </a:rPr>
              <a:t>）</a:t>
            </a:r>
            <a:endParaRPr lang="zh-CN" altLang="en-US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DB40980-1E75-B4C1-6304-D65DED3F909A}"/>
              </a:ext>
            </a:extLst>
          </p:cNvPr>
          <p:cNvGrpSpPr/>
          <p:nvPr/>
        </p:nvGrpSpPr>
        <p:grpSpPr>
          <a:xfrm>
            <a:off x="8549928" y="3835706"/>
            <a:ext cx="2733039" cy="2115447"/>
            <a:chOff x="6959906" y="2772017"/>
            <a:chExt cx="2733039" cy="2115447"/>
          </a:xfrm>
        </p:grpSpPr>
        <p:pic>
          <p:nvPicPr>
            <p:cNvPr id="9" name="图形 8" descr="扳手 轮廓">
              <a:extLst>
                <a:ext uri="{FF2B5EF4-FFF2-40B4-BE49-F238E27FC236}">
                  <a16:creationId xmlns:a16="http://schemas.microsoft.com/office/drawing/2014/main" id="{3A9EECAD-7A51-A348-4604-86CF90BF4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93877" y="2772017"/>
              <a:ext cx="1665098" cy="1665098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70247D2-27E7-0A3E-A85E-2FC5B67C88FC}"/>
                </a:ext>
              </a:extLst>
            </p:cNvPr>
            <p:cNvSpPr txBox="1"/>
            <p:nvPr/>
          </p:nvSpPr>
          <p:spPr>
            <a:xfrm>
              <a:off x="6959906" y="4518132"/>
              <a:ext cx="27330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i="0" dirty="0">
                  <a:solidFill>
                    <a:srgbClr val="1A1C1E"/>
                  </a:solidFill>
                  <a:effectLst/>
                  <a:latin typeface="Inter"/>
                </a:rPr>
                <a:t>APP</a:t>
              </a:r>
              <a:r>
                <a:rPr lang="zh-CN" altLang="en-US" b="1" i="0" dirty="0">
                  <a:solidFill>
                    <a:srgbClr val="1A1C1E"/>
                  </a:solidFill>
                  <a:effectLst/>
                  <a:latin typeface="Inter"/>
                </a:rPr>
                <a:t>日常监控</a:t>
              </a:r>
              <a:r>
                <a:rPr lang="zh-CN" altLang="en-US" b="1" dirty="0">
                  <a:solidFill>
                    <a:srgbClr val="1A1C1E"/>
                  </a:solidFill>
                  <a:latin typeface="Inter"/>
                </a:rPr>
                <a:t>（</a:t>
              </a:r>
              <a:r>
                <a:rPr lang="zh-CN" altLang="en-US" b="1" dirty="0">
                  <a:solidFill>
                    <a:srgbClr val="FF0000"/>
                  </a:solidFill>
                  <a:latin typeface="Inter"/>
                </a:rPr>
                <a:t>生态效度</a:t>
              </a:r>
              <a:r>
                <a:rPr lang="zh-CN" altLang="en-US" b="1" dirty="0">
                  <a:solidFill>
                    <a:srgbClr val="1A1C1E"/>
                  </a:solidFill>
                  <a:latin typeface="Inter"/>
                </a:rPr>
                <a:t>）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61570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7C6F9ED0-5BDA-D9E1-82C3-A8E947295336}"/>
              </a:ext>
            </a:extLst>
          </p:cNvPr>
          <p:cNvGrpSpPr/>
          <p:nvPr/>
        </p:nvGrpSpPr>
        <p:grpSpPr>
          <a:xfrm>
            <a:off x="7830525" y="1812796"/>
            <a:ext cx="4361475" cy="1850323"/>
            <a:chOff x="838184" y="3666193"/>
            <a:chExt cx="4632157" cy="1965158"/>
          </a:xfrm>
        </p:grpSpPr>
        <p:pic>
          <p:nvPicPr>
            <p:cNvPr id="6" name="图形 5" descr="机器人 轮廓">
              <a:extLst>
                <a:ext uri="{FF2B5EF4-FFF2-40B4-BE49-F238E27FC236}">
                  <a16:creationId xmlns:a16="http://schemas.microsoft.com/office/drawing/2014/main" id="{26970B81-D8B3-4217-9DAE-8DA55E3D2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184" y="3666193"/>
              <a:ext cx="1965158" cy="1965158"/>
            </a:xfrm>
            <a:prstGeom prst="rect">
              <a:avLst/>
            </a:prstGeom>
          </p:spPr>
        </p:pic>
        <p:pic>
          <p:nvPicPr>
            <p:cNvPr id="8" name="图形 7" descr="男人 轮廓">
              <a:extLst>
                <a:ext uri="{FF2B5EF4-FFF2-40B4-BE49-F238E27FC236}">
                  <a16:creationId xmlns:a16="http://schemas.microsoft.com/office/drawing/2014/main" id="{FF65B784-7CA8-5415-8594-84391C077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05184" y="3666193"/>
              <a:ext cx="1965157" cy="1965157"/>
            </a:xfrm>
            <a:prstGeom prst="rect">
              <a:avLst/>
            </a:prstGeom>
          </p:spPr>
        </p:pic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FE6771F6-1ED7-0602-71C9-2AE770D38508}"/>
                </a:ext>
              </a:extLst>
            </p:cNvPr>
            <p:cNvCxnSpPr/>
            <p:nvPr/>
          </p:nvCxnSpPr>
          <p:spPr>
            <a:xfrm>
              <a:off x="2481943" y="4648771"/>
              <a:ext cx="1505666" cy="0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275056E8-197E-D99E-5195-E83D6FDEB0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81943" y="4912469"/>
              <a:ext cx="1436914" cy="0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2FCE4CB-81B9-088D-592C-BDC269A49487}"/>
                </a:ext>
              </a:extLst>
            </p:cNvPr>
            <p:cNvSpPr txBox="1"/>
            <p:nvPr/>
          </p:nvSpPr>
          <p:spPr>
            <a:xfrm>
              <a:off x="2601973" y="4355156"/>
              <a:ext cx="119685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0" i="0" dirty="0">
                  <a:solidFill>
                    <a:srgbClr val="FF0000"/>
                  </a:solidFill>
                  <a:effectLst/>
                  <a:latin typeface="Inter"/>
                </a:rPr>
                <a:t>指导</a:t>
              </a:r>
              <a:endParaRPr lang="zh-CN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76A112F-D2A8-F7BB-891E-E103E68F3AED}"/>
                </a:ext>
              </a:extLst>
            </p:cNvPr>
            <p:cNvSpPr txBox="1"/>
            <p:nvPr/>
          </p:nvSpPr>
          <p:spPr>
            <a:xfrm>
              <a:off x="2601973" y="5020689"/>
              <a:ext cx="119685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0" i="0" dirty="0">
                  <a:solidFill>
                    <a:srgbClr val="FF0000"/>
                  </a:solidFill>
                  <a:effectLst/>
                  <a:latin typeface="Inter"/>
                </a:rPr>
                <a:t>反馈</a:t>
              </a:r>
              <a:endParaRPr lang="zh-CN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5FEA113-EB37-51A2-9407-954C5E4D805F}"/>
              </a:ext>
            </a:extLst>
          </p:cNvPr>
          <p:cNvGrpSpPr/>
          <p:nvPr/>
        </p:nvGrpSpPr>
        <p:grpSpPr>
          <a:xfrm>
            <a:off x="7767376" y="3852384"/>
            <a:ext cx="4535926" cy="1728388"/>
            <a:chOff x="6172183" y="3666193"/>
            <a:chExt cx="4773114" cy="1965157"/>
          </a:xfrm>
        </p:grpSpPr>
        <p:pic>
          <p:nvPicPr>
            <p:cNvPr id="17" name="图形 16" descr="男人 轮廓">
              <a:extLst>
                <a:ext uri="{FF2B5EF4-FFF2-40B4-BE49-F238E27FC236}">
                  <a16:creationId xmlns:a16="http://schemas.microsoft.com/office/drawing/2014/main" id="{1FB40309-8710-58C7-0B56-33F583597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72183" y="3666193"/>
              <a:ext cx="1965157" cy="1965157"/>
            </a:xfrm>
            <a:prstGeom prst="rect">
              <a:avLst/>
            </a:prstGeom>
          </p:spPr>
        </p:pic>
        <p:pic>
          <p:nvPicPr>
            <p:cNvPr id="20" name="图形 19" descr="头上的大脑 轮廓">
              <a:extLst>
                <a:ext uri="{FF2B5EF4-FFF2-40B4-BE49-F238E27FC236}">
                  <a16:creationId xmlns:a16="http://schemas.microsoft.com/office/drawing/2014/main" id="{2B5D7641-C823-1DCF-1F6F-9662AA38E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980140" y="3666193"/>
              <a:ext cx="1965157" cy="1965157"/>
            </a:xfrm>
            <a:prstGeom prst="rect">
              <a:avLst/>
            </a:prstGeom>
          </p:spPr>
        </p:pic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322C667A-FA0F-D19B-7ABC-138A1398ED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1298" y="4726563"/>
              <a:ext cx="1436914" cy="0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60C2586-1426-99C5-8D86-B5EB9D315988}"/>
                </a:ext>
              </a:extLst>
            </p:cNvPr>
            <p:cNvSpPr txBox="1"/>
            <p:nvPr/>
          </p:nvSpPr>
          <p:spPr>
            <a:xfrm>
              <a:off x="7911329" y="4374871"/>
              <a:ext cx="119685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0" i="0" dirty="0">
                  <a:solidFill>
                    <a:srgbClr val="FF0000"/>
                  </a:solidFill>
                  <a:effectLst/>
                  <a:latin typeface="Inter"/>
                </a:rPr>
                <a:t>自我反馈指导</a:t>
              </a:r>
              <a:endParaRPr lang="zh-CN" altLang="en-US" sz="12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6146" name="图片 1">
            <a:extLst>
              <a:ext uri="{FF2B5EF4-FFF2-40B4-BE49-F238E27FC236}">
                <a16:creationId xmlns:a16="http://schemas.microsoft.com/office/drawing/2014/main" id="{9C26B240-EA44-440D-8942-AE67EFFCC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67" y="1671033"/>
            <a:ext cx="7951587" cy="3984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8344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F8AD7CB-44BF-CC81-69B6-0894140DDB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485737"/>
              </p:ext>
            </p:extLst>
          </p:nvPr>
        </p:nvGraphicFramePr>
        <p:xfrm>
          <a:off x="326571" y="1007706"/>
          <a:ext cx="11569959" cy="51093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1094">
                  <a:extLst>
                    <a:ext uri="{9D8B030D-6E8A-4147-A177-3AD203B41FA5}">
                      <a16:colId xmlns:a16="http://schemas.microsoft.com/office/drawing/2014/main" val="76218186"/>
                    </a:ext>
                  </a:extLst>
                </a:gridCol>
                <a:gridCol w="1222311">
                  <a:extLst>
                    <a:ext uri="{9D8B030D-6E8A-4147-A177-3AD203B41FA5}">
                      <a16:colId xmlns:a16="http://schemas.microsoft.com/office/drawing/2014/main" val="3487220546"/>
                    </a:ext>
                  </a:extLst>
                </a:gridCol>
                <a:gridCol w="727787">
                  <a:extLst>
                    <a:ext uri="{9D8B030D-6E8A-4147-A177-3AD203B41FA5}">
                      <a16:colId xmlns:a16="http://schemas.microsoft.com/office/drawing/2014/main" val="4033103090"/>
                    </a:ext>
                  </a:extLst>
                </a:gridCol>
                <a:gridCol w="1530221">
                  <a:extLst>
                    <a:ext uri="{9D8B030D-6E8A-4147-A177-3AD203B41FA5}">
                      <a16:colId xmlns:a16="http://schemas.microsoft.com/office/drawing/2014/main" val="2617510766"/>
                    </a:ext>
                  </a:extLst>
                </a:gridCol>
                <a:gridCol w="2864498">
                  <a:extLst>
                    <a:ext uri="{9D8B030D-6E8A-4147-A177-3AD203B41FA5}">
                      <a16:colId xmlns:a16="http://schemas.microsoft.com/office/drawing/2014/main" val="2054124933"/>
                    </a:ext>
                  </a:extLst>
                </a:gridCol>
                <a:gridCol w="1073020">
                  <a:extLst>
                    <a:ext uri="{9D8B030D-6E8A-4147-A177-3AD203B41FA5}">
                      <a16:colId xmlns:a16="http://schemas.microsoft.com/office/drawing/2014/main" val="2365506104"/>
                    </a:ext>
                  </a:extLst>
                </a:gridCol>
                <a:gridCol w="3331028">
                  <a:extLst>
                    <a:ext uri="{9D8B030D-6E8A-4147-A177-3AD203B41FA5}">
                      <a16:colId xmlns:a16="http://schemas.microsoft.com/office/drawing/2014/main" val="683655720"/>
                    </a:ext>
                  </a:extLst>
                </a:gridCol>
              </a:tblGrid>
              <a:tr h="1430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训练日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>
                          <a:effectLst/>
                        </a:rPr>
                        <a:t>动作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组数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重复次数范围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目标速度</a:t>
                      </a:r>
                      <a:r>
                        <a:rPr lang="en-US" sz="1200" dirty="0">
                          <a:effectLst/>
                        </a:rPr>
                        <a:t>/</a:t>
                      </a:r>
                      <a:r>
                        <a:rPr lang="zh-CN" sz="1200" dirty="0">
                          <a:effectLst/>
                        </a:rPr>
                        <a:t>衰减阈值</a:t>
                      </a:r>
                      <a:r>
                        <a:rPr lang="en-US" sz="1200" dirty="0">
                          <a:effectLst/>
                        </a:rPr>
                        <a:t> (AI</a:t>
                      </a:r>
                      <a:r>
                        <a:rPr lang="zh-CN" sz="1200" dirty="0">
                          <a:effectLst/>
                        </a:rPr>
                        <a:t>组依据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休息时间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备注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extLst>
                  <a:ext uri="{0D108BD9-81ED-4DB2-BD59-A6C34878D82A}">
                    <a16:rowId xmlns:a16="http://schemas.microsoft.com/office/drawing/2014/main" val="2373756405"/>
                  </a:ext>
                </a:extLst>
              </a:tr>
              <a:tr h="75090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>
                          <a:effectLst/>
                        </a:rPr>
                        <a:t>训练日</a:t>
                      </a:r>
                      <a:r>
                        <a:rPr lang="en-US" sz="1200">
                          <a:effectLst/>
                        </a:rPr>
                        <a:t>A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跳跃深蹲</a:t>
                      </a:r>
                      <a:r>
                        <a:rPr lang="en-US" sz="1200" dirty="0">
                          <a:effectLst/>
                        </a:rPr>
                        <a:t> 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4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3-5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目标平均向心速度</a:t>
                      </a:r>
                      <a:r>
                        <a:rPr lang="en-US" sz="1200" dirty="0">
                          <a:effectLst/>
                        </a:rPr>
                        <a:t> &gt; 1.0 m/s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2-3 min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动态努力，爆发力核心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extLst>
                  <a:ext uri="{0D108BD9-81ED-4DB2-BD59-A6C34878D82A}">
                    <a16:rowId xmlns:a16="http://schemas.microsoft.com/office/drawing/2014/main" val="780343590"/>
                  </a:ext>
                </a:extLst>
              </a:tr>
              <a:tr h="674924"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>
                          <a:effectLst/>
                        </a:rPr>
                        <a:t>下肢与推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杠铃卧推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4-6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速度衰减阈值</a:t>
                      </a:r>
                      <a:r>
                        <a:rPr lang="en-US" sz="1200" dirty="0">
                          <a:effectLst/>
                        </a:rPr>
                        <a:t> &lt; 15%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2-3 min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最大努力，疲劳控制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extLst>
                  <a:ext uri="{0D108BD9-81ED-4DB2-BD59-A6C34878D82A}">
                    <a16:rowId xmlns:a16="http://schemas.microsoft.com/office/drawing/2014/main" val="2645763337"/>
                  </a:ext>
                </a:extLst>
              </a:tr>
              <a:tr h="15867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箭步蹲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3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8-10 (</a:t>
                      </a:r>
                      <a:r>
                        <a:rPr lang="zh-CN" sz="1200" dirty="0">
                          <a:effectLst/>
                        </a:rPr>
                        <a:t>每侧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RIR 1-2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1-2 min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辅助力量，两组均以主观</a:t>
                      </a:r>
                      <a:r>
                        <a:rPr lang="en-US" sz="1200" dirty="0">
                          <a:effectLst/>
                        </a:rPr>
                        <a:t>RPE/RIR</a:t>
                      </a:r>
                      <a:r>
                        <a:rPr lang="zh-CN" sz="1200" dirty="0">
                          <a:effectLst/>
                        </a:rPr>
                        <a:t>为标准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extLst>
                  <a:ext uri="{0D108BD9-81ED-4DB2-BD59-A6C34878D82A}">
                    <a16:rowId xmlns:a16="http://schemas.microsoft.com/office/drawing/2014/main" val="817663589"/>
                  </a:ext>
                </a:extLst>
              </a:tr>
              <a:tr h="29500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>
                          <a:effectLst/>
                        </a:rPr>
                        <a:t>肩上推举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6-8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RIR 1-2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1-2 min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辅助力量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extLst>
                  <a:ext uri="{0D108BD9-81ED-4DB2-BD59-A6C34878D82A}">
                    <a16:rowId xmlns:a16="http://schemas.microsoft.com/office/drawing/2014/main" val="1712719474"/>
                  </a:ext>
                </a:extLst>
              </a:tr>
              <a:tr h="67492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训练日</a:t>
                      </a:r>
                      <a:r>
                        <a:rPr lang="en-US" sz="1200" dirty="0">
                          <a:effectLst/>
                        </a:rPr>
                        <a:t>B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杠铃深蹲</a:t>
                      </a:r>
                      <a:r>
                        <a:rPr lang="en-US" sz="1200" dirty="0">
                          <a:effectLst/>
                        </a:rPr>
                        <a:t> 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3-5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速度衰减阈值</a:t>
                      </a:r>
                      <a:r>
                        <a:rPr lang="en-US" sz="1200" dirty="0">
                          <a:effectLst/>
                        </a:rPr>
                        <a:t> &lt; 20%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2-3 min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最大努力，核心力量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extLst>
                  <a:ext uri="{0D108BD9-81ED-4DB2-BD59-A6C34878D82A}">
                    <a16:rowId xmlns:a16="http://schemas.microsoft.com/office/drawing/2014/main" val="798506843"/>
                  </a:ext>
                </a:extLst>
              </a:tr>
              <a:tr h="295002"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>
                          <a:effectLst/>
                        </a:rPr>
                        <a:t>下肢与拉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>
                          <a:effectLst/>
                        </a:rPr>
                        <a:t>罗马尼亚硬拉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6-8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RIR 1-2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1-2 min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>
                          <a:effectLst/>
                        </a:rPr>
                        <a:t>辅助力量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extLst>
                  <a:ext uri="{0D108BD9-81ED-4DB2-BD59-A6C34878D82A}">
                    <a16:rowId xmlns:a16="http://schemas.microsoft.com/office/drawing/2014/main" val="2169110156"/>
                  </a:ext>
                </a:extLst>
              </a:tr>
              <a:tr h="29500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>
                          <a:effectLst/>
                        </a:rPr>
                        <a:t>引体向上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6-10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RIR 1-2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1-2 min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>
                          <a:effectLst/>
                        </a:rPr>
                        <a:t>辅助力量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extLst>
                  <a:ext uri="{0D108BD9-81ED-4DB2-BD59-A6C34878D82A}">
                    <a16:rowId xmlns:a16="http://schemas.microsoft.com/office/drawing/2014/main" val="1725605941"/>
                  </a:ext>
                </a:extLst>
              </a:tr>
              <a:tr h="29500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>
                          <a:effectLst/>
                        </a:rPr>
                        <a:t>杠铃划船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8-10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RIR 1-2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1-2 min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dirty="0">
                          <a:effectLst/>
                        </a:rPr>
                        <a:t>辅助力量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877" marR="18877" marT="0" marB="0" anchor="ctr"/>
                </a:tc>
                <a:extLst>
                  <a:ext uri="{0D108BD9-81ED-4DB2-BD59-A6C34878D82A}">
                    <a16:rowId xmlns:a16="http://schemas.microsoft.com/office/drawing/2014/main" val="3438112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682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C3E788A-90BE-B53D-744C-5CD70DC8B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24" y="1174741"/>
            <a:ext cx="5848970" cy="484807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0627B65-3AD6-9D7B-DE59-F2F5D49F11E8}"/>
              </a:ext>
            </a:extLst>
          </p:cNvPr>
          <p:cNvSpPr txBox="1"/>
          <p:nvPr/>
        </p:nvSpPr>
        <p:spPr>
          <a:xfrm>
            <a:off x="6594411" y="1539380"/>
            <a:ext cx="5330111" cy="377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buNone/>
            </a:pP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为最有效地处理重复测量数据并应对潜在的随机缺失，本研究将主要采用</a:t>
            </a:r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线性混合模型（</a:t>
            </a:r>
            <a:r>
              <a:rPr lang="en-US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Linear Mixed Models, LMM</a:t>
            </a:r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进行干预效果分析，以检验所有研究假设（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H1, H2, H3, H4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）。</a:t>
            </a:r>
            <a:endParaRPr lang="zh-CN" altLang="zh-CN" sz="2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50000"/>
              </a:lnSpc>
              <a:buNone/>
            </a:pP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主要结果将基于</a:t>
            </a:r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意向性分析（</a:t>
            </a:r>
            <a:r>
              <a:rPr lang="en-US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Intention-to-Treat, ITT</a:t>
            </a:r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）原则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进行报告，即所有被随机化的受试者都将被纳入最终分析，以保留随机化带来的优势。同时，将进行</a:t>
            </a:r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符合方案集（</a:t>
            </a:r>
            <a:r>
              <a:rPr lang="en-US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Per-Protocol, PP</a:t>
            </a:r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）分析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作为敏感性分析，以评估在理想依从性下的干预效果。</a:t>
            </a:r>
            <a:endParaRPr lang="zh-CN" altLang="zh-CN" sz="2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5617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477532-58EE-C9F6-2F73-981B4F1D9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AI</a:t>
            </a:r>
            <a:r>
              <a:rPr lang="zh-CN" altLang="en-US" b="1" dirty="0"/>
              <a:t>教练工具的核心展示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33EA22-8104-9563-791E-050A39760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纸上得来终觉浅，深知此事要躬行。</a:t>
            </a:r>
          </a:p>
        </p:txBody>
      </p:sp>
    </p:spTree>
    <p:extLst>
      <p:ext uri="{BB962C8B-B14F-4D97-AF65-F5344CB8AC3E}">
        <p14:creationId xmlns:p14="http://schemas.microsoft.com/office/powerpoint/2010/main" val="2318837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1">
            <a:extLst>
              <a:ext uri="{FF2B5EF4-FFF2-40B4-BE49-F238E27FC236}">
                <a16:creationId xmlns:a16="http://schemas.microsoft.com/office/drawing/2014/main" id="{ACA83118-4446-8458-8997-D886BC4E2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79" y="1010880"/>
            <a:ext cx="8057544" cy="511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8E891136-815A-C556-73A8-9141BBD05F65}"/>
              </a:ext>
            </a:extLst>
          </p:cNvPr>
          <p:cNvGrpSpPr/>
          <p:nvPr/>
        </p:nvGrpSpPr>
        <p:grpSpPr>
          <a:xfrm>
            <a:off x="8559087" y="1546868"/>
            <a:ext cx="3398675" cy="1252954"/>
            <a:chOff x="8576776" y="1198983"/>
            <a:chExt cx="3398675" cy="1252954"/>
          </a:xfrm>
        </p:grpSpPr>
        <p:pic>
          <p:nvPicPr>
            <p:cNvPr id="3" name="图形 2" descr="眼睛 纯色填充">
              <a:extLst>
                <a:ext uri="{FF2B5EF4-FFF2-40B4-BE49-F238E27FC236}">
                  <a16:creationId xmlns:a16="http://schemas.microsoft.com/office/drawing/2014/main" id="{C87889F7-2728-79AE-2116-423D0E30A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818914" y="1198983"/>
              <a:ext cx="914400" cy="91440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2B3A05E-2110-CCC6-34B2-C5F57E7D7A50}"/>
                </a:ext>
              </a:extLst>
            </p:cNvPr>
            <p:cNvSpPr txBox="1"/>
            <p:nvPr/>
          </p:nvSpPr>
          <p:spPr>
            <a:xfrm>
              <a:off x="8576776" y="2113383"/>
              <a:ext cx="339867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i="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CV</a:t>
              </a:r>
              <a:r>
                <a:rPr lang="zh-CN" altLang="en-US" sz="1600" b="1" i="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是系统的‘眼睛’，负责感知</a:t>
              </a:r>
              <a:endPara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B4A0F86-B072-9121-D625-BDBAEEE8B182}"/>
              </a:ext>
            </a:extLst>
          </p:cNvPr>
          <p:cNvGrpSpPr/>
          <p:nvPr/>
        </p:nvGrpSpPr>
        <p:grpSpPr>
          <a:xfrm>
            <a:off x="8324851" y="4396732"/>
            <a:ext cx="3867149" cy="1376903"/>
            <a:chOff x="8342538" y="3715598"/>
            <a:chExt cx="3867149" cy="1376903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DFBC358-7BD6-9073-4942-1B56D498F303}"/>
                </a:ext>
              </a:extLst>
            </p:cNvPr>
            <p:cNvSpPr txBox="1"/>
            <p:nvPr/>
          </p:nvSpPr>
          <p:spPr>
            <a:xfrm>
              <a:off x="8342538" y="4753947"/>
              <a:ext cx="386714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i="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LLM</a:t>
              </a:r>
              <a:r>
                <a:rPr lang="zh-CN" altLang="en-US" sz="1600" b="1" i="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是系统的‘大脑’，负责决策和反馈</a:t>
              </a:r>
              <a:endPara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11" name="图形 10" descr="头上的大脑 纯色填充">
              <a:extLst>
                <a:ext uri="{FF2B5EF4-FFF2-40B4-BE49-F238E27FC236}">
                  <a16:creationId xmlns:a16="http://schemas.microsoft.com/office/drawing/2014/main" id="{120DAFAD-7C84-84C1-41E7-D8035E486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818913" y="3715598"/>
              <a:ext cx="914400" cy="914400"/>
            </a:xfrm>
            <a:prstGeom prst="rect">
              <a:avLst/>
            </a:prstGeom>
          </p:spPr>
        </p:pic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DDEB195E-4052-C41F-8F4F-4B1457054C92}"/>
              </a:ext>
            </a:extLst>
          </p:cNvPr>
          <p:cNvSpPr txBox="1"/>
          <p:nvPr/>
        </p:nvSpPr>
        <p:spPr>
          <a:xfrm>
            <a:off x="9109592" y="3275111"/>
            <a:ext cx="22976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实时感知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智能决策的完整闭环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569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男人的照片上写着字&#10;&#10;AI 生成的内容可能不正确。">
            <a:extLst>
              <a:ext uri="{FF2B5EF4-FFF2-40B4-BE49-F238E27FC236}">
                <a16:creationId xmlns:a16="http://schemas.microsoft.com/office/drawing/2014/main" id="{E633C3AD-83D6-C4D6-7A2E-60C66E2BFC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75" y="1096347"/>
            <a:ext cx="2225350" cy="4945223"/>
          </a:xfrm>
          <a:prstGeom prst="rect">
            <a:avLst/>
          </a:prstGeom>
        </p:spPr>
      </p:pic>
      <p:pic>
        <p:nvPicPr>
          <p:cNvPr id="7" name="图片 6" descr="图片包含 图示&#10;&#10;AI 生成的内容可能不正确。">
            <a:extLst>
              <a:ext uri="{FF2B5EF4-FFF2-40B4-BE49-F238E27FC236}">
                <a16:creationId xmlns:a16="http://schemas.microsoft.com/office/drawing/2014/main" id="{15C296FE-61A4-E313-4A41-3EF5C9C44C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225" y="1096347"/>
            <a:ext cx="2225350" cy="4945223"/>
          </a:xfrm>
          <a:prstGeom prst="rect">
            <a:avLst/>
          </a:prstGeom>
        </p:spPr>
      </p:pic>
      <p:pic>
        <p:nvPicPr>
          <p:cNvPr id="9" name="图片 8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C4BA8663-7152-D9E5-7134-F63CE6A9D9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575" y="1096347"/>
            <a:ext cx="2225350" cy="4945223"/>
          </a:xfrm>
          <a:prstGeom prst="rect">
            <a:avLst/>
          </a:prstGeom>
        </p:spPr>
      </p:pic>
      <p:pic>
        <p:nvPicPr>
          <p:cNvPr id="11" name="图片 10" descr="图形用户界面&#10;&#10;AI 生成的内容可能不正确。">
            <a:extLst>
              <a:ext uri="{FF2B5EF4-FFF2-40B4-BE49-F238E27FC236}">
                <a16:creationId xmlns:a16="http://schemas.microsoft.com/office/drawing/2014/main" id="{0FAC7189-68D2-BFAE-DD40-3954153CA7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925" y="1096347"/>
            <a:ext cx="2524489" cy="4948466"/>
          </a:xfrm>
          <a:prstGeom prst="rect">
            <a:avLst/>
          </a:prstGeom>
        </p:spPr>
      </p:pic>
      <p:pic>
        <p:nvPicPr>
          <p:cNvPr id="15" name="图片 1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7D6B1479-4F3A-77F9-742D-D63C6FD8B4A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413" y="1096347"/>
            <a:ext cx="2524489" cy="495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526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>
            <a:extLst>
              <a:ext uri="{FF2B5EF4-FFF2-40B4-BE49-F238E27FC236}">
                <a16:creationId xmlns:a16="http://schemas.microsoft.com/office/drawing/2014/main" id="{DDD7450E-A07F-36C2-25BD-B321041EAA30}"/>
              </a:ext>
            </a:extLst>
          </p:cNvPr>
          <p:cNvSpPr txBox="1"/>
          <p:nvPr/>
        </p:nvSpPr>
        <p:spPr>
          <a:xfrm>
            <a:off x="2931447" y="1184836"/>
            <a:ext cx="5044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spc="0" baseline="0" dirty="0">
                <a:ln/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课前调整决策：基于每日神经肌肉准备度</a:t>
            </a:r>
            <a:r>
              <a:rPr lang="zh-CN" altLang="en-US" b="1" spc="0" baseline="0" dirty="0">
                <a:ln/>
                <a:solidFill>
                  <a:srgbClr val="000000"/>
                </a:solidFill>
                <a:latin typeface="Arial"/>
                <a:ea typeface="微软雅黑"/>
                <a:cs typeface="Arial"/>
                <a:sym typeface="Arial"/>
                <a:rtl val="0"/>
              </a:rPr>
              <a:t> (CMJ)</a:t>
            </a: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38CA62C0-35D7-932A-E216-0D06533E88EF}"/>
              </a:ext>
            </a:extLst>
          </p:cNvPr>
          <p:cNvSpPr/>
          <p:nvPr/>
        </p:nvSpPr>
        <p:spPr>
          <a:xfrm>
            <a:off x="2353183" y="2313982"/>
            <a:ext cx="12923" cy="3230998"/>
          </a:xfrm>
          <a:custGeom>
            <a:avLst/>
            <a:gdLst>
              <a:gd name="connsiteX0" fmla="*/ 0 w 12923"/>
              <a:gd name="connsiteY0" fmla="*/ 3230999 h 3230998"/>
              <a:gd name="connsiteX1" fmla="*/ 0 w 12923"/>
              <a:gd name="connsiteY1" fmla="*/ 0 h 3230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923" h="3230998">
                <a:moveTo>
                  <a:pt x="0" y="3230999"/>
                </a:moveTo>
                <a:lnTo>
                  <a:pt x="0" y="0"/>
                </a:lnTo>
              </a:path>
            </a:pathLst>
          </a:custGeom>
          <a:ln w="2584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C1161AF-4900-C810-3251-7A0E035A9A69}"/>
              </a:ext>
            </a:extLst>
          </p:cNvPr>
          <p:cNvSpPr txBox="1"/>
          <p:nvPr/>
        </p:nvSpPr>
        <p:spPr>
          <a:xfrm rot="16200000">
            <a:off x="682387" y="3836678"/>
            <a:ext cx="2413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spc="0" baseline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CMJ</a:t>
            </a:r>
            <a:r>
              <a:rPr lang="zh-CN" altLang="en-US" sz="1600" b="1" spc="0" baseline="0" dirty="0">
                <a:ln/>
                <a:solidFill>
                  <a:srgbClr val="000000"/>
                </a:solidFill>
                <a:latin typeface="微软雅黑"/>
                <a:ea typeface="微软雅黑"/>
                <a:cs typeface="Arial"/>
                <a:sym typeface="微软雅黑"/>
                <a:rtl val="0"/>
              </a:rPr>
              <a:t>跳跃高度</a:t>
            </a:r>
            <a:r>
              <a:rPr lang="zh-CN" altLang="en-US" sz="1600" b="1" spc="0" baseline="0" dirty="0">
                <a:ln/>
                <a:solidFill>
                  <a:srgbClr val="000000"/>
                </a:solidFill>
                <a:latin typeface="Arial"/>
                <a:ea typeface="微软雅黑"/>
                <a:cs typeface="Arial"/>
                <a:sym typeface="Arial"/>
                <a:rtl val="0"/>
              </a:rPr>
              <a:t> (cm)</a:t>
            </a: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603B7A1C-18BE-7345-C21C-E827E51D2E01}"/>
              </a:ext>
            </a:extLst>
          </p:cNvPr>
          <p:cNvSpPr/>
          <p:nvPr/>
        </p:nvSpPr>
        <p:spPr>
          <a:xfrm>
            <a:off x="2288563" y="4898781"/>
            <a:ext cx="129239" cy="12923"/>
          </a:xfrm>
          <a:custGeom>
            <a:avLst/>
            <a:gdLst>
              <a:gd name="connsiteX0" fmla="*/ 0 w 129239"/>
              <a:gd name="connsiteY0" fmla="*/ 0 h 12923"/>
              <a:gd name="connsiteX1" fmla="*/ 129240 w 129239"/>
              <a:gd name="connsiteY1" fmla="*/ 0 h 12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9239" h="12923">
                <a:moveTo>
                  <a:pt x="0" y="0"/>
                </a:moveTo>
                <a:lnTo>
                  <a:pt x="129240" y="0"/>
                </a:lnTo>
              </a:path>
            </a:pathLst>
          </a:custGeom>
          <a:ln w="1292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65706AE-2685-BFDF-5010-86B7F25BD863}"/>
              </a:ext>
            </a:extLst>
          </p:cNvPr>
          <p:cNvSpPr txBox="1"/>
          <p:nvPr/>
        </p:nvSpPr>
        <p:spPr>
          <a:xfrm>
            <a:off x="2005231" y="4800683"/>
            <a:ext cx="293670" cy="209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63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35</a:t>
            </a: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4C0DC9AA-51EC-D2CB-6C30-4E1DCE946668}"/>
              </a:ext>
            </a:extLst>
          </p:cNvPr>
          <p:cNvSpPr/>
          <p:nvPr/>
        </p:nvSpPr>
        <p:spPr>
          <a:xfrm>
            <a:off x="2288563" y="4252581"/>
            <a:ext cx="129239" cy="12923"/>
          </a:xfrm>
          <a:custGeom>
            <a:avLst/>
            <a:gdLst>
              <a:gd name="connsiteX0" fmla="*/ 0 w 129239"/>
              <a:gd name="connsiteY0" fmla="*/ 0 h 12923"/>
              <a:gd name="connsiteX1" fmla="*/ 129240 w 129239"/>
              <a:gd name="connsiteY1" fmla="*/ 0 h 12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9239" h="12923">
                <a:moveTo>
                  <a:pt x="0" y="0"/>
                </a:moveTo>
                <a:lnTo>
                  <a:pt x="129240" y="0"/>
                </a:lnTo>
              </a:path>
            </a:pathLst>
          </a:custGeom>
          <a:ln w="1292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C8BE719-B1B8-AA1E-9A5C-14A4466E135C}"/>
              </a:ext>
            </a:extLst>
          </p:cNvPr>
          <p:cNvSpPr txBox="1"/>
          <p:nvPr/>
        </p:nvSpPr>
        <p:spPr>
          <a:xfrm>
            <a:off x="2005231" y="4154484"/>
            <a:ext cx="293670" cy="209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63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40</a:t>
            </a: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0C91EDA3-AEF6-A1EF-DAF8-6DCD29B77696}"/>
              </a:ext>
            </a:extLst>
          </p:cNvPr>
          <p:cNvSpPr/>
          <p:nvPr/>
        </p:nvSpPr>
        <p:spPr>
          <a:xfrm>
            <a:off x="2288563" y="3606382"/>
            <a:ext cx="129239" cy="12923"/>
          </a:xfrm>
          <a:custGeom>
            <a:avLst/>
            <a:gdLst>
              <a:gd name="connsiteX0" fmla="*/ 0 w 129239"/>
              <a:gd name="connsiteY0" fmla="*/ 0 h 12923"/>
              <a:gd name="connsiteX1" fmla="*/ 129240 w 129239"/>
              <a:gd name="connsiteY1" fmla="*/ 0 h 12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9239" h="12923">
                <a:moveTo>
                  <a:pt x="0" y="0"/>
                </a:moveTo>
                <a:lnTo>
                  <a:pt x="129240" y="0"/>
                </a:lnTo>
              </a:path>
            </a:pathLst>
          </a:custGeom>
          <a:ln w="1292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C8DCE9F-267D-0263-97A1-D08BF511A583}"/>
              </a:ext>
            </a:extLst>
          </p:cNvPr>
          <p:cNvSpPr txBox="1"/>
          <p:nvPr/>
        </p:nvSpPr>
        <p:spPr>
          <a:xfrm>
            <a:off x="2005231" y="3508284"/>
            <a:ext cx="293670" cy="209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63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45</a:t>
            </a:r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460BF0FF-2A1E-A746-839F-B0E479BA5D28}"/>
              </a:ext>
            </a:extLst>
          </p:cNvPr>
          <p:cNvSpPr/>
          <p:nvPr/>
        </p:nvSpPr>
        <p:spPr>
          <a:xfrm>
            <a:off x="2353183" y="5544981"/>
            <a:ext cx="5686557" cy="12923"/>
          </a:xfrm>
          <a:custGeom>
            <a:avLst/>
            <a:gdLst>
              <a:gd name="connsiteX0" fmla="*/ 0 w 5686557"/>
              <a:gd name="connsiteY0" fmla="*/ 0 h 12923"/>
              <a:gd name="connsiteX1" fmla="*/ 5686558 w 5686557"/>
              <a:gd name="connsiteY1" fmla="*/ 0 h 12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686557" h="12923">
                <a:moveTo>
                  <a:pt x="0" y="0"/>
                </a:moveTo>
                <a:lnTo>
                  <a:pt x="5686558" y="0"/>
                </a:lnTo>
              </a:path>
            </a:pathLst>
          </a:custGeom>
          <a:ln w="2584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C4AF066-A57F-DFA3-39EC-DB735408DA1A}"/>
              </a:ext>
            </a:extLst>
          </p:cNvPr>
          <p:cNvSpPr txBox="1"/>
          <p:nvPr/>
        </p:nvSpPr>
        <p:spPr>
          <a:xfrm>
            <a:off x="4989677" y="5712860"/>
            <a:ext cx="8002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spc="0" baseline="0" dirty="0">
                <a:ln/>
                <a:solidFill>
                  <a:srgbClr val="000000"/>
                </a:solidFill>
                <a:latin typeface="微软雅黑"/>
                <a:ea typeface="微软雅黑"/>
                <a:sym typeface="微软雅黑"/>
                <a:rtl val="0"/>
              </a:rPr>
              <a:t>训练日</a:t>
            </a: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0093B29F-2467-A2E6-1075-B8FDA986579F}"/>
              </a:ext>
            </a:extLst>
          </p:cNvPr>
          <p:cNvSpPr/>
          <p:nvPr/>
        </p:nvSpPr>
        <p:spPr>
          <a:xfrm>
            <a:off x="2611663" y="4252581"/>
            <a:ext cx="5169598" cy="12923"/>
          </a:xfrm>
          <a:custGeom>
            <a:avLst/>
            <a:gdLst>
              <a:gd name="connsiteX0" fmla="*/ 0 w 5169598"/>
              <a:gd name="connsiteY0" fmla="*/ 0 h 12923"/>
              <a:gd name="connsiteX1" fmla="*/ 5169598 w 5169598"/>
              <a:gd name="connsiteY1" fmla="*/ 0 h 12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69598" h="12923">
                <a:moveTo>
                  <a:pt x="0" y="0"/>
                </a:moveTo>
                <a:lnTo>
                  <a:pt x="5169598" y="0"/>
                </a:lnTo>
              </a:path>
            </a:pathLst>
          </a:custGeom>
          <a:ln w="12922" cap="flat">
            <a:solidFill>
              <a:srgbClr val="666666"/>
            </a:solidFill>
            <a:custDash>
              <a:ds d="375000" sp="375000"/>
            </a:custDash>
            <a:miter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4BB242E-E2D2-22C1-BC53-5F024592FFDB}"/>
              </a:ext>
            </a:extLst>
          </p:cNvPr>
          <p:cNvSpPr txBox="1"/>
          <p:nvPr/>
        </p:nvSpPr>
        <p:spPr>
          <a:xfrm>
            <a:off x="7934178" y="4121808"/>
            <a:ext cx="907620" cy="209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63" spc="0" baseline="0">
                <a:ln/>
                <a:solidFill>
                  <a:srgbClr val="666666"/>
                </a:solidFill>
                <a:latin typeface="微软雅黑"/>
                <a:ea typeface="微软雅黑"/>
                <a:sym typeface="微软雅黑"/>
                <a:rtl val="0"/>
              </a:rPr>
              <a:t>基线均值</a:t>
            </a:r>
            <a:r>
              <a:rPr lang="zh-CN" altLang="en-US" sz="763" spc="0" baseline="0">
                <a:ln/>
                <a:solidFill>
                  <a:srgbClr val="666666"/>
                </a:solidFill>
                <a:latin typeface="Arial"/>
                <a:ea typeface="微软雅黑"/>
                <a:cs typeface="Arial"/>
                <a:sym typeface="Arial"/>
                <a:rtl val="0"/>
              </a:rPr>
              <a:t> (40cm)</a:t>
            </a: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94579442-E892-7616-B21E-D54F69EAA0FD}"/>
              </a:ext>
            </a:extLst>
          </p:cNvPr>
          <p:cNvSpPr/>
          <p:nvPr/>
        </p:nvSpPr>
        <p:spPr>
          <a:xfrm>
            <a:off x="2611663" y="4058721"/>
            <a:ext cx="5169598" cy="12923"/>
          </a:xfrm>
          <a:custGeom>
            <a:avLst/>
            <a:gdLst>
              <a:gd name="connsiteX0" fmla="*/ 0 w 5169598"/>
              <a:gd name="connsiteY0" fmla="*/ 0 h 12923"/>
              <a:gd name="connsiteX1" fmla="*/ 5169598 w 5169598"/>
              <a:gd name="connsiteY1" fmla="*/ 0 h 12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69598" h="12923">
                <a:moveTo>
                  <a:pt x="0" y="0"/>
                </a:moveTo>
                <a:lnTo>
                  <a:pt x="5169598" y="0"/>
                </a:lnTo>
              </a:path>
            </a:pathLst>
          </a:custGeom>
          <a:ln w="12922" cap="flat">
            <a:solidFill>
              <a:srgbClr val="FFA500"/>
            </a:solidFill>
            <a:custDash>
              <a:ds d="375000" sp="375000"/>
            </a:custDash>
            <a:miter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0F0908C-0562-706D-7791-8251AB8536CC}"/>
              </a:ext>
            </a:extLst>
          </p:cNvPr>
          <p:cNvSpPr txBox="1"/>
          <p:nvPr/>
        </p:nvSpPr>
        <p:spPr>
          <a:xfrm>
            <a:off x="7934178" y="3927948"/>
            <a:ext cx="1010213" cy="209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63" spc="0" baseline="0">
                <a:ln/>
                <a:solidFill>
                  <a:srgbClr val="FFA500"/>
                </a:solidFill>
                <a:latin typeface="Arial"/>
                <a:cs typeface="Arial"/>
                <a:sym typeface="Arial"/>
                <a:rtl val="0"/>
              </a:rPr>
              <a:t>-5% </a:t>
            </a:r>
            <a:r>
              <a:rPr lang="zh-CN" altLang="en-US" sz="763" spc="0" baseline="0">
                <a:ln/>
                <a:solidFill>
                  <a:srgbClr val="FFA500"/>
                </a:solidFill>
                <a:latin typeface="微软雅黑"/>
                <a:ea typeface="微软雅黑"/>
                <a:cs typeface="Arial"/>
                <a:sym typeface="微软雅黑"/>
                <a:rtl val="0"/>
              </a:rPr>
              <a:t>阈值线</a:t>
            </a:r>
            <a:r>
              <a:rPr lang="zh-CN" altLang="en-US" sz="763" spc="0" baseline="0">
                <a:ln/>
                <a:solidFill>
                  <a:srgbClr val="FFA500"/>
                </a:solidFill>
                <a:latin typeface="Arial"/>
                <a:ea typeface="微软雅黑"/>
                <a:cs typeface="Arial"/>
                <a:sym typeface="Arial"/>
                <a:rtl val="0"/>
              </a:rPr>
              <a:t> (38cm)</a:t>
            </a: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7199155A-9B7B-D191-0CE4-1E933B276E3F}"/>
              </a:ext>
            </a:extLst>
          </p:cNvPr>
          <p:cNvSpPr/>
          <p:nvPr/>
        </p:nvSpPr>
        <p:spPr>
          <a:xfrm>
            <a:off x="2818447" y="4136265"/>
            <a:ext cx="103391" cy="103391"/>
          </a:xfrm>
          <a:custGeom>
            <a:avLst/>
            <a:gdLst>
              <a:gd name="connsiteX0" fmla="*/ 103392 w 103391"/>
              <a:gd name="connsiteY0" fmla="*/ 51696 h 103391"/>
              <a:gd name="connsiteX1" fmla="*/ 51696 w 103391"/>
              <a:gd name="connsiteY1" fmla="*/ 103392 h 103391"/>
              <a:gd name="connsiteX2" fmla="*/ 0 w 103391"/>
              <a:gd name="connsiteY2" fmla="*/ 51696 h 103391"/>
              <a:gd name="connsiteX3" fmla="*/ 51696 w 103391"/>
              <a:gd name="connsiteY3" fmla="*/ 0 h 103391"/>
              <a:gd name="connsiteX4" fmla="*/ 103392 w 103391"/>
              <a:gd name="connsiteY4" fmla="*/ 51696 h 10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91" h="103391">
                <a:moveTo>
                  <a:pt x="103392" y="51696"/>
                </a:moveTo>
                <a:cubicBezTo>
                  <a:pt x="103392" y="80247"/>
                  <a:pt x="80247" y="103392"/>
                  <a:pt x="51696" y="103392"/>
                </a:cubicBezTo>
                <a:cubicBezTo>
                  <a:pt x="23145" y="103392"/>
                  <a:pt x="0" y="80247"/>
                  <a:pt x="0" y="51696"/>
                </a:cubicBezTo>
                <a:cubicBezTo>
                  <a:pt x="0" y="23145"/>
                  <a:pt x="23145" y="0"/>
                  <a:pt x="51696" y="0"/>
                </a:cubicBezTo>
                <a:cubicBezTo>
                  <a:pt x="80247" y="0"/>
                  <a:pt x="103392" y="23145"/>
                  <a:pt x="103392" y="51696"/>
                </a:cubicBezTo>
                <a:close/>
              </a:path>
            </a:pathLst>
          </a:custGeom>
          <a:solidFill>
            <a:srgbClr val="4A90E2"/>
          </a:solidFill>
          <a:ln w="1292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32887238-C820-371B-8543-E83AED0AA127}"/>
              </a:ext>
            </a:extLst>
          </p:cNvPr>
          <p:cNvSpPr/>
          <p:nvPr/>
        </p:nvSpPr>
        <p:spPr>
          <a:xfrm>
            <a:off x="3335407" y="4265505"/>
            <a:ext cx="103391" cy="103391"/>
          </a:xfrm>
          <a:custGeom>
            <a:avLst/>
            <a:gdLst>
              <a:gd name="connsiteX0" fmla="*/ 103392 w 103391"/>
              <a:gd name="connsiteY0" fmla="*/ 51696 h 103391"/>
              <a:gd name="connsiteX1" fmla="*/ 51696 w 103391"/>
              <a:gd name="connsiteY1" fmla="*/ 103392 h 103391"/>
              <a:gd name="connsiteX2" fmla="*/ 0 w 103391"/>
              <a:gd name="connsiteY2" fmla="*/ 51696 h 103391"/>
              <a:gd name="connsiteX3" fmla="*/ 51696 w 103391"/>
              <a:gd name="connsiteY3" fmla="*/ 0 h 103391"/>
              <a:gd name="connsiteX4" fmla="*/ 103392 w 103391"/>
              <a:gd name="connsiteY4" fmla="*/ 51696 h 10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91" h="103391">
                <a:moveTo>
                  <a:pt x="103392" y="51696"/>
                </a:moveTo>
                <a:cubicBezTo>
                  <a:pt x="103392" y="80247"/>
                  <a:pt x="80247" y="103392"/>
                  <a:pt x="51696" y="103392"/>
                </a:cubicBezTo>
                <a:cubicBezTo>
                  <a:pt x="23145" y="103392"/>
                  <a:pt x="0" y="80247"/>
                  <a:pt x="0" y="51696"/>
                </a:cubicBezTo>
                <a:cubicBezTo>
                  <a:pt x="0" y="23145"/>
                  <a:pt x="23145" y="0"/>
                  <a:pt x="51696" y="0"/>
                </a:cubicBezTo>
                <a:cubicBezTo>
                  <a:pt x="80247" y="0"/>
                  <a:pt x="103392" y="23145"/>
                  <a:pt x="103392" y="51696"/>
                </a:cubicBezTo>
                <a:close/>
              </a:path>
            </a:pathLst>
          </a:custGeom>
          <a:solidFill>
            <a:srgbClr val="4A90E2"/>
          </a:solidFill>
          <a:ln w="1292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FF97CB58-1E56-6BC0-488D-639DA06A2CF6}"/>
              </a:ext>
            </a:extLst>
          </p:cNvPr>
          <p:cNvSpPr/>
          <p:nvPr/>
        </p:nvSpPr>
        <p:spPr>
          <a:xfrm>
            <a:off x="3852367" y="4071645"/>
            <a:ext cx="103391" cy="103391"/>
          </a:xfrm>
          <a:custGeom>
            <a:avLst/>
            <a:gdLst>
              <a:gd name="connsiteX0" fmla="*/ 103392 w 103391"/>
              <a:gd name="connsiteY0" fmla="*/ 51696 h 103391"/>
              <a:gd name="connsiteX1" fmla="*/ 51696 w 103391"/>
              <a:gd name="connsiteY1" fmla="*/ 103392 h 103391"/>
              <a:gd name="connsiteX2" fmla="*/ 0 w 103391"/>
              <a:gd name="connsiteY2" fmla="*/ 51696 h 103391"/>
              <a:gd name="connsiteX3" fmla="*/ 51696 w 103391"/>
              <a:gd name="connsiteY3" fmla="*/ 0 h 103391"/>
              <a:gd name="connsiteX4" fmla="*/ 103392 w 103391"/>
              <a:gd name="connsiteY4" fmla="*/ 51696 h 10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91" h="103391">
                <a:moveTo>
                  <a:pt x="103392" y="51696"/>
                </a:moveTo>
                <a:cubicBezTo>
                  <a:pt x="103392" y="80247"/>
                  <a:pt x="80247" y="103392"/>
                  <a:pt x="51696" y="103392"/>
                </a:cubicBezTo>
                <a:cubicBezTo>
                  <a:pt x="23145" y="103392"/>
                  <a:pt x="0" y="80247"/>
                  <a:pt x="0" y="51696"/>
                </a:cubicBezTo>
                <a:cubicBezTo>
                  <a:pt x="0" y="23145"/>
                  <a:pt x="23145" y="0"/>
                  <a:pt x="51696" y="0"/>
                </a:cubicBezTo>
                <a:cubicBezTo>
                  <a:pt x="80247" y="0"/>
                  <a:pt x="103392" y="23145"/>
                  <a:pt x="103392" y="51696"/>
                </a:cubicBezTo>
                <a:close/>
              </a:path>
            </a:pathLst>
          </a:custGeom>
          <a:solidFill>
            <a:srgbClr val="4A90E2"/>
          </a:solidFill>
          <a:ln w="1292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4B9E6F3D-CEF3-C60A-8254-8A8FFBE1369D}"/>
              </a:ext>
            </a:extLst>
          </p:cNvPr>
          <p:cNvSpPr/>
          <p:nvPr/>
        </p:nvSpPr>
        <p:spPr>
          <a:xfrm>
            <a:off x="4369326" y="4200885"/>
            <a:ext cx="103391" cy="103391"/>
          </a:xfrm>
          <a:custGeom>
            <a:avLst/>
            <a:gdLst>
              <a:gd name="connsiteX0" fmla="*/ 103392 w 103391"/>
              <a:gd name="connsiteY0" fmla="*/ 51696 h 103391"/>
              <a:gd name="connsiteX1" fmla="*/ 51696 w 103391"/>
              <a:gd name="connsiteY1" fmla="*/ 103392 h 103391"/>
              <a:gd name="connsiteX2" fmla="*/ 0 w 103391"/>
              <a:gd name="connsiteY2" fmla="*/ 51696 h 103391"/>
              <a:gd name="connsiteX3" fmla="*/ 51696 w 103391"/>
              <a:gd name="connsiteY3" fmla="*/ 0 h 103391"/>
              <a:gd name="connsiteX4" fmla="*/ 103392 w 103391"/>
              <a:gd name="connsiteY4" fmla="*/ 51696 h 10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91" h="103391">
                <a:moveTo>
                  <a:pt x="103392" y="51696"/>
                </a:moveTo>
                <a:cubicBezTo>
                  <a:pt x="103392" y="80247"/>
                  <a:pt x="80247" y="103392"/>
                  <a:pt x="51696" y="103392"/>
                </a:cubicBezTo>
                <a:cubicBezTo>
                  <a:pt x="23145" y="103392"/>
                  <a:pt x="0" y="80247"/>
                  <a:pt x="0" y="51696"/>
                </a:cubicBezTo>
                <a:cubicBezTo>
                  <a:pt x="0" y="23145"/>
                  <a:pt x="23145" y="0"/>
                  <a:pt x="51696" y="0"/>
                </a:cubicBezTo>
                <a:cubicBezTo>
                  <a:pt x="80247" y="0"/>
                  <a:pt x="103392" y="23145"/>
                  <a:pt x="103392" y="51696"/>
                </a:cubicBezTo>
                <a:close/>
              </a:path>
            </a:pathLst>
          </a:custGeom>
          <a:solidFill>
            <a:srgbClr val="4A90E2"/>
          </a:solidFill>
          <a:ln w="1292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6660825A-1B3C-CE69-82F0-2E80955B445C}"/>
              </a:ext>
            </a:extLst>
          </p:cNvPr>
          <p:cNvSpPr/>
          <p:nvPr/>
        </p:nvSpPr>
        <p:spPr>
          <a:xfrm>
            <a:off x="4886286" y="4330125"/>
            <a:ext cx="103391" cy="103391"/>
          </a:xfrm>
          <a:custGeom>
            <a:avLst/>
            <a:gdLst>
              <a:gd name="connsiteX0" fmla="*/ 103392 w 103391"/>
              <a:gd name="connsiteY0" fmla="*/ 51696 h 103391"/>
              <a:gd name="connsiteX1" fmla="*/ 51696 w 103391"/>
              <a:gd name="connsiteY1" fmla="*/ 103392 h 103391"/>
              <a:gd name="connsiteX2" fmla="*/ 0 w 103391"/>
              <a:gd name="connsiteY2" fmla="*/ 51696 h 103391"/>
              <a:gd name="connsiteX3" fmla="*/ 51696 w 103391"/>
              <a:gd name="connsiteY3" fmla="*/ 0 h 103391"/>
              <a:gd name="connsiteX4" fmla="*/ 103392 w 103391"/>
              <a:gd name="connsiteY4" fmla="*/ 51696 h 10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91" h="103391">
                <a:moveTo>
                  <a:pt x="103392" y="51696"/>
                </a:moveTo>
                <a:cubicBezTo>
                  <a:pt x="103392" y="80247"/>
                  <a:pt x="80247" y="103392"/>
                  <a:pt x="51696" y="103392"/>
                </a:cubicBezTo>
                <a:cubicBezTo>
                  <a:pt x="23145" y="103392"/>
                  <a:pt x="0" y="80247"/>
                  <a:pt x="0" y="51696"/>
                </a:cubicBezTo>
                <a:cubicBezTo>
                  <a:pt x="0" y="23145"/>
                  <a:pt x="23145" y="0"/>
                  <a:pt x="51696" y="0"/>
                </a:cubicBezTo>
                <a:cubicBezTo>
                  <a:pt x="80247" y="0"/>
                  <a:pt x="103392" y="23145"/>
                  <a:pt x="103392" y="51696"/>
                </a:cubicBezTo>
                <a:close/>
              </a:path>
            </a:pathLst>
          </a:custGeom>
          <a:solidFill>
            <a:srgbClr val="4A90E2"/>
          </a:solidFill>
          <a:ln w="1292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8F00FC68-C6D5-E0E4-47BF-6D05B3133221}"/>
              </a:ext>
            </a:extLst>
          </p:cNvPr>
          <p:cNvSpPr/>
          <p:nvPr/>
        </p:nvSpPr>
        <p:spPr>
          <a:xfrm>
            <a:off x="5403246" y="4136265"/>
            <a:ext cx="103391" cy="103391"/>
          </a:xfrm>
          <a:custGeom>
            <a:avLst/>
            <a:gdLst>
              <a:gd name="connsiteX0" fmla="*/ 103392 w 103391"/>
              <a:gd name="connsiteY0" fmla="*/ 51696 h 103391"/>
              <a:gd name="connsiteX1" fmla="*/ 51696 w 103391"/>
              <a:gd name="connsiteY1" fmla="*/ 103392 h 103391"/>
              <a:gd name="connsiteX2" fmla="*/ 0 w 103391"/>
              <a:gd name="connsiteY2" fmla="*/ 51696 h 103391"/>
              <a:gd name="connsiteX3" fmla="*/ 51696 w 103391"/>
              <a:gd name="connsiteY3" fmla="*/ 0 h 103391"/>
              <a:gd name="connsiteX4" fmla="*/ 103392 w 103391"/>
              <a:gd name="connsiteY4" fmla="*/ 51696 h 10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91" h="103391">
                <a:moveTo>
                  <a:pt x="103392" y="51696"/>
                </a:moveTo>
                <a:cubicBezTo>
                  <a:pt x="103392" y="80247"/>
                  <a:pt x="80247" y="103392"/>
                  <a:pt x="51696" y="103392"/>
                </a:cubicBezTo>
                <a:cubicBezTo>
                  <a:pt x="23145" y="103392"/>
                  <a:pt x="0" y="80247"/>
                  <a:pt x="0" y="51696"/>
                </a:cubicBezTo>
                <a:cubicBezTo>
                  <a:pt x="0" y="23145"/>
                  <a:pt x="23145" y="0"/>
                  <a:pt x="51696" y="0"/>
                </a:cubicBezTo>
                <a:cubicBezTo>
                  <a:pt x="80247" y="0"/>
                  <a:pt x="103392" y="23145"/>
                  <a:pt x="103392" y="51696"/>
                </a:cubicBezTo>
                <a:close/>
              </a:path>
            </a:pathLst>
          </a:custGeom>
          <a:solidFill>
            <a:srgbClr val="4A90E2"/>
          </a:solidFill>
          <a:ln w="1292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E3463C84-FAE1-E71A-88C5-258FAE39426A}"/>
              </a:ext>
            </a:extLst>
          </p:cNvPr>
          <p:cNvSpPr/>
          <p:nvPr/>
        </p:nvSpPr>
        <p:spPr>
          <a:xfrm>
            <a:off x="5920206" y="4200885"/>
            <a:ext cx="103391" cy="103391"/>
          </a:xfrm>
          <a:custGeom>
            <a:avLst/>
            <a:gdLst>
              <a:gd name="connsiteX0" fmla="*/ 103392 w 103391"/>
              <a:gd name="connsiteY0" fmla="*/ 51696 h 103391"/>
              <a:gd name="connsiteX1" fmla="*/ 51696 w 103391"/>
              <a:gd name="connsiteY1" fmla="*/ 103392 h 103391"/>
              <a:gd name="connsiteX2" fmla="*/ 0 w 103391"/>
              <a:gd name="connsiteY2" fmla="*/ 51696 h 103391"/>
              <a:gd name="connsiteX3" fmla="*/ 51696 w 103391"/>
              <a:gd name="connsiteY3" fmla="*/ 0 h 103391"/>
              <a:gd name="connsiteX4" fmla="*/ 103392 w 103391"/>
              <a:gd name="connsiteY4" fmla="*/ 51696 h 10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91" h="103391">
                <a:moveTo>
                  <a:pt x="103392" y="51696"/>
                </a:moveTo>
                <a:cubicBezTo>
                  <a:pt x="103392" y="80247"/>
                  <a:pt x="80247" y="103392"/>
                  <a:pt x="51696" y="103392"/>
                </a:cubicBezTo>
                <a:cubicBezTo>
                  <a:pt x="23145" y="103392"/>
                  <a:pt x="0" y="80247"/>
                  <a:pt x="0" y="51696"/>
                </a:cubicBezTo>
                <a:cubicBezTo>
                  <a:pt x="0" y="23145"/>
                  <a:pt x="23145" y="0"/>
                  <a:pt x="51696" y="0"/>
                </a:cubicBezTo>
                <a:cubicBezTo>
                  <a:pt x="80247" y="0"/>
                  <a:pt x="103392" y="23145"/>
                  <a:pt x="103392" y="51696"/>
                </a:cubicBezTo>
                <a:close/>
              </a:path>
            </a:pathLst>
          </a:custGeom>
          <a:solidFill>
            <a:srgbClr val="4A90E2"/>
          </a:solidFill>
          <a:ln w="1292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D8D52A3A-C04A-FC8B-6283-8904645079FF}"/>
              </a:ext>
            </a:extLst>
          </p:cNvPr>
          <p:cNvSpPr/>
          <p:nvPr/>
        </p:nvSpPr>
        <p:spPr>
          <a:xfrm>
            <a:off x="2870143" y="4123341"/>
            <a:ext cx="3101758" cy="258479"/>
          </a:xfrm>
          <a:custGeom>
            <a:avLst/>
            <a:gdLst>
              <a:gd name="connsiteX0" fmla="*/ 0 w 3101758"/>
              <a:gd name="connsiteY0" fmla="*/ 64620 h 258479"/>
              <a:gd name="connsiteX1" fmla="*/ 516960 w 3101758"/>
              <a:gd name="connsiteY1" fmla="*/ 193860 h 258479"/>
              <a:gd name="connsiteX2" fmla="*/ 1033920 w 3101758"/>
              <a:gd name="connsiteY2" fmla="*/ 0 h 258479"/>
              <a:gd name="connsiteX3" fmla="*/ 1550879 w 3101758"/>
              <a:gd name="connsiteY3" fmla="*/ 129240 h 258479"/>
              <a:gd name="connsiteX4" fmla="*/ 2067839 w 3101758"/>
              <a:gd name="connsiteY4" fmla="*/ 258480 h 258479"/>
              <a:gd name="connsiteX5" fmla="*/ 2584799 w 3101758"/>
              <a:gd name="connsiteY5" fmla="*/ 64620 h 258479"/>
              <a:gd name="connsiteX6" fmla="*/ 3101759 w 3101758"/>
              <a:gd name="connsiteY6" fmla="*/ 129240 h 2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1758" h="258479">
                <a:moveTo>
                  <a:pt x="0" y="64620"/>
                </a:moveTo>
                <a:lnTo>
                  <a:pt x="516960" y="193860"/>
                </a:lnTo>
                <a:lnTo>
                  <a:pt x="1033920" y="0"/>
                </a:lnTo>
                <a:lnTo>
                  <a:pt x="1550879" y="129240"/>
                </a:lnTo>
                <a:lnTo>
                  <a:pt x="2067839" y="258480"/>
                </a:lnTo>
                <a:lnTo>
                  <a:pt x="2584799" y="64620"/>
                </a:lnTo>
                <a:lnTo>
                  <a:pt x="3101759" y="129240"/>
                </a:lnTo>
              </a:path>
            </a:pathLst>
          </a:custGeom>
          <a:noFill/>
          <a:ln w="25845" cap="flat">
            <a:solidFill>
              <a:srgbClr val="4A90E2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ED77E846-7490-7F81-9D9D-5659DBC519F2}"/>
              </a:ext>
            </a:extLst>
          </p:cNvPr>
          <p:cNvSpPr/>
          <p:nvPr/>
        </p:nvSpPr>
        <p:spPr>
          <a:xfrm>
            <a:off x="6508399" y="4446441"/>
            <a:ext cx="155087" cy="155087"/>
          </a:xfrm>
          <a:custGeom>
            <a:avLst/>
            <a:gdLst>
              <a:gd name="connsiteX0" fmla="*/ 155088 w 155087"/>
              <a:gd name="connsiteY0" fmla="*/ 77544 h 155087"/>
              <a:gd name="connsiteX1" fmla="*/ 77544 w 155087"/>
              <a:gd name="connsiteY1" fmla="*/ 155088 h 155087"/>
              <a:gd name="connsiteX2" fmla="*/ 0 w 155087"/>
              <a:gd name="connsiteY2" fmla="*/ 77544 h 155087"/>
              <a:gd name="connsiteX3" fmla="*/ 77544 w 155087"/>
              <a:gd name="connsiteY3" fmla="*/ 0 h 155087"/>
              <a:gd name="connsiteX4" fmla="*/ 155088 w 155087"/>
              <a:gd name="connsiteY4" fmla="*/ 77544 h 155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87" h="155087">
                <a:moveTo>
                  <a:pt x="155088" y="77544"/>
                </a:moveTo>
                <a:cubicBezTo>
                  <a:pt x="155088" y="120370"/>
                  <a:pt x="120370" y="155088"/>
                  <a:pt x="77544" y="155088"/>
                </a:cubicBezTo>
                <a:cubicBezTo>
                  <a:pt x="34717" y="155088"/>
                  <a:pt x="0" y="120370"/>
                  <a:pt x="0" y="77544"/>
                </a:cubicBezTo>
                <a:cubicBezTo>
                  <a:pt x="0" y="34717"/>
                  <a:pt x="34717" y="0"/>
                  <a:pt x="77544" y="0"/>
                </a:cubicBezTo>
                <a:cubicBezTo>
                  <a:pt x="120370" y="0"/>
                  <a:pt x="155088" y="34717"/>
                  <a:pt x="155088" y="77544"/>
                </a:cubicBezTo>
                <a:close/>
              </a:path>
            </a:pathLst>
          </a:custGeom>
          <a:solidFill>
            <a:srgbClr val="D0021B"/>
          </a:solidFill>
          <a:ln w="1292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484D6C9-B3A6-6B0D-FBFB-5F7FB6EC45D4}"/>
              </a:ext>
            </a:extLst>
          </p:cNvPr>
          <p:cNvSpPr txBox="1"/>
          <p:nvPr/>
        </p:nvSpPr>
        <p:spPr>
          <a:xfrm>
            <a:off x="6171406" y="4572646"/>
            <a:ext cx="829073" cy="2332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16" b="1" spc="0" baseline="0">
                <a:ln/>
                <a:solidFill>
                  <a:srgbClr val="D0021B"/>
                </a:solidFill>
                <a:latin typeface="微软雅黑"/>
                <a:ea typeface="微软雅黑"/>
                <a:sym typeface="微软雅黑"/>
                <a:rtl val="0"/>
              </a:rPr>
              <a:t>今日</a:t>
            </a:r>
            <a:r>
              <a:rPr lang="zh-CN" altLang="en-US" sz="916" b="1" spc="0" baseline="0">
                <a:ln/>
                <a:solidFill>
                  <a:srgbClr val="D0021B"/>
                </a:solidFill>
                <a:latin typeface="Arial"/>
                <a:ea typeface="微软雅黑"/>
                <a:cs typeface="Arial"/>
                <a:sym typeface="Arial"/>
                <a:rtl val="0"/>
              </a:rPr>
              <a:t> (38cm)</a:t>
            </a:r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752FF7B7-525C-A9AA-C191-DB7DA3FAF531}"/>
              </a:ext>
            </a:extLst>
          </p:cNvPr>
          <p:cNvGrpSpPr/>
          <p:nvPr/>
        </p:nvGrpSpPr>
        <p:grpSpPr>
          <a:xfrm>
            <a:off x="6585942" y="1873522"/>
            <a:ext cx="3968758" cy="1772341"/>
            <a:chOff x="8039740" y="1688840"/>
            <a:chExt cx="3968758" cy="1772341"/>
          </a:xfrm>
        </p:grpSpPr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D30CEC9B-FAE5-3E38-7962-E4D5BAB14091}"/>
                </a:ext>
              </a:extLst>
            </p:cNvPr>
            <p:cNvSpPr/>
            <p:nvPr/>
          </p:nvSpPr>
          <p:spPr>
            <a:xfrm>
              <a:off x="8039740" y="1688840"/>
              <a:ext cx="3968758" cy="1772341"/>
            </a:xfrm>
            <a:custGeom>
              <a:avLst/>
              <a:gdLst>
                <a:gd name="connsiteX0" fmla="*/ 3166379 w 3230998"/>
                <a:gd name="connsiteY0" fmla="*/ 0 h 1292399"/>
                <a:gd name="connsiteX1" fmla="*/ 3230999 w 3230998"/>
                <a:gd name="connsiteY1" fmla="*/ 64620 h 1292399"/>
                <a:gd name="connsiteX2" fmla="*/ 3230999 w 3230998"/>
                <a:gd name="connsiteY2" fmla="*/ 1227780 h 1292399"/>
                <a:gd name="connsiteX3" fmla="*/ 3166379 w 3230998"/>
                <a:gd name="connsiteY3" fmla="*/ 1292400 h 1292399"/>
                <a:gd name="connsiteX4" fmla="*/ 64620 w 3230998"/>
                <a:gd name="connsiteY4" fmla="*/ 1292400 h 1292399"/>
                <a:gd name="connsiteX5" fmla="*/ 0 w 3230998"/>
                <a:gd name="connsiteY5" fmla="*/ 1227780 h 1292399"/>
                <a:gd name="connsiteX6" fmla="*/ 0 w 3230998"/>
                <a:gd name="connsiteY6" fmla="*/ 64620 h 1292399"/>
                <a:gd name="connsiteX7" fmla="*/ 64620 w 3230998"/>
                <a:gd name="connsiteY7" fmla="*/ 0 h 1292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0998" h="1292399">
                  <a:moveTo>
                    <a:pt x="3166379" y="0"/>
                  </a:moveTo>
                  <a:cubicBezTo>
                    <a:pt x="3202067" y="0"/>
                    <a:pt x="3230999" y="28931"/>
                    <a:pt x="3230999" y="64620"/>
                  </a:cubicBezTo>
                  <a:lnTo>
                    <a:pt x="3230999" y="1227780"/>
                  </a:lnTo>
                  <a:cubicBezTo>
                    <a:pt x="3230999" y="1263468"/>
                    <a:pt x="3202067" y="1292400"/>
                    <a:pt x="3166379" y="1292400"/>
                  </a:cubicBezTo>
                  <a:lnTo>
                    <a:pt x="64620" y="1292400"/>
                  </a:lnTo>
                  <a:cubicBezTo>
                    <a:pt x="28931" y="1292400"/>
                    <a:pt x="0" y="1263468"/>
                    <a:pt x="0" y="1227780"/>
                  </a:cubicBezTo>
                  <a:lnTo>
                    <a:pt x="0" y="64620"/>
                  </a:lnTo>
                  <a:cubicBezTo>
                    <a:pt x="0" y="28931"/>
                    <a:pt x="28931" y="0"/>
                    <a:pt x="64620" y="0"/>
                  </a:cubicBezTo>
                  <a:close/>
                </a:path>
              </a:pathLst>
            </a:custGeom>
            <a:solidFill>
              <a:srgbClr val="F0F8FF"/>
            </a:solidFill>
            <a:ln w="25845" cap="flat">
              <a:solidFill>
                <a:srgbClr val="4A90E2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F4769207-5415-A00E-2B2E-D071316CE41D}"/>
                </a:ext>
              </a:extLst>
            </p:cNvPr>
            <p:cNvSpPr txBox="1"/>
            <p:nvPr/>
          </p:nvSpPr>
          <p:spPr>
            <a:xfrm>
              <a:off x="8162995" y="1852260"/>
              <a:ext cx="1210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0" baseline="0" dirty="0">
                  <a:ln/>
                  <a:solidFill>
                    <a:srgbClr val="D0021B"/>
                  </a:solidFill>
                  <a:latin typeface="Arial"/>
                  <a:cs typeface="Arial"/>
                  <a:sym typeface="Arial"/>
                  <a:rtl val="0"/>
                </a:rPr>
                <a:t>AI</a:t>
              </a:r>
              <a:r>
                <a:rPr lang="zh-CN" altLang="en-US" sz="1600" b="1" spc="0" baseline="0" dirty="0">
                  <a:ln/>
                  <a:solidFill>
                    <a:srgbClr val="D0021B"/>
                  </a:solidFill>
                  <a:latin typeface="微软雅黑"/>
                  <a:ea typeface="微软雅黑"/>
                  <a:cs typeface="Arial"/>
                  <a:sym typeface="微软雅黑"/>
                  <a:rtl val="0"/>
                </a:rPr>
                <a:t>教练决策</a:t>
              </a: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E1E3D943-AC5B-5647-4C4D-1B01BF2FEEEB}"/>
                </a:ext>
              </a:extLst>
            </p:cNvPr>
            <p:cNvSpPr txBox="1"/>
            <p:nvPr/>
          </p:nvSpPr>
          <p:spPr>
            <a:xfrm>
              <a:off x="8149331" y="2227432"/>
              <a:ext cx="22605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spc="0" baseline="0" dirty="0">
                  <a:ln/>
                  <a:solidFill>
                    <a:srgbClr val="333333"/>
                  </a:solidFill>
                  <a:latin typeface="微软雅黑"/>
                  <a:ea typeface="微软雅黑"/>
                  <a:sym typeface="微软雅黑"/>
                  <a:rtl val="0"/>
                </a:rPr>
                <a:t>状态检测：</a:t>
              </a:r>
              <a:r>
                <a:rPr lang="zh-CN" altLang="en-US" sz="1200" spc="0" baseline="0" dirty="0">
                  <a:ln/>
                  <a:solidFill>
                    <a:srgbClr val="333333"/>
                  </a:solidFill>
                  <a:latin typeface="Arial"/>
                  <a:ea typeface="微软雅黑"/>
                  <a:cs typeface="Arial"/>
                  <a:sym typeface="Arial"/>
                  <a:rtl val="0"/>
                </a:rPr>
                <a:t>CMJ</a:t>
              </a:r>
              <a:r>
                <a:rPr lang="zh-CN" altLang="en-US" sz="1200" spc="0" baseline="0" dirty="0">
                  <a:ln/>
                  <a:solidFill>
                    <a:srgbClr val="333333"/>
                  </a:solidFill>
                  <a:latin typeface="微软雅黑"/>
                  <a:ea typeface="微软雅黑"/>
                  <a:cs typeface="Arial"/>
                  <a:sym typeface="微软雅黑"/>
                  <a:rtl val="0"/>
                </a:rPr>
                <a:t>高度为</a:t>
              </a:r>
              <a:r>
                <a:rPr lang="zh-CN" altLang="en-US" sz="1200" spc="0" baseline="0" dirty="0">
                  <a:ln/>
                  <a:solidFill>
                    <a:srgbClr val="333333"/>
                  </a:solidFill>
                  <a:latin typeface="Arial"/>
                  <a:ea typeface="微软雅黑"/>
                  <a:cs typeface="Arial"/>
                  <a:sym typeface="Arial"/>
                  <a:rtl val="0"/>
                </a:rPr>
                <a:t>38cm</a:t>
              </a:r>
              <a:r>
                <a:rPr lang="zh-CN" altLang="en-US" sz="1200" spc="0" baseline="0" dirty="0">
                  <a:ln/>
                  <a:solidFill>
                    <a:srgbClr val="333333"/>
                  </a:solidFill>
                  <a:latin typeface="微软雅黑"/>
                  <a:ea typeface="微软雅黑"/>
                  <a:cs typeface="Arial"/>
                  <a:sym typeface="微软雅黑"/>
                  <a:rtl val="0"/>
                </a:rPr>
                <a:t>，</a:t>
              </a: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D49EF470-7F0C-92D9-0627-4DE54D672E31}"/>
                </a:ext>
              </a:extLst>
            </p:cNvPr>
            <p:cNvSpPr txBox="1"/>
            <p:nvPr/>
          </p:nvSpPr>
          <p:spPr>
            <a:xfrm>
              <a:off x="8149331" y="2492749"/>
              <a:ext cx="20040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spc="0" baseline="0">
                  <a:ln/>
                  <a:solidFill>
                    <a:srgbClr val="333333"/>
                  </a:solidFill>
                  <a:latin typeface="微软雅黑"/>
                  <a:ea typeface="微软雅黑"/>
                  <a:sym typeface="微软雅黑"/>
                  <a:rtl val="0"/>
                </a:rPr>
                <a:t>低于个人基线</a:t>
              </a:r>
              <a:r>
                <a:rPr lang="zh-CN" altLang="en-US" sz="1200" spc="0" baseline="0">
                  <a:ln/>
                  <a:solidFill>
                    <a:srgbClr val="333333"/>
                  </a:solidFill>
                  <a:latin typeface="Arial"/>
                  <a:ea typeface="微软雅黑"/>
                  <a:cs typeface="Arial"/>
                  <a:sym typeface="Arial"/>
                  <a:rtl val="0"/>
                </a:rPr>
                <a:t>(40cm) </a:t>
              </a:r>
              <a:r>
                <a:rPr lang="zh-CN" altLang="en-US" sz="1200" b="1" spc="0" baseline="0">
                  <a:ln/>
                  <a:solidFill>
                    <a:srgbClr val="D0021B"/>
                  </a:solidFill>
                  <a:latin typeface="Arial"/>
                  <a:ea typeface="微软雅黑"/>
                  <a:cs typeface="Arial"/>
                  <a:sym typeface="Arial"/>
                  <a:rtl val="0"/>
                </a:rPr>
                <a:t>5%</a:t>
              </a:r>
              <a:r>
                <a:rPr lang="zh-CN" altLang="en-US" sz="1200" b="1" spc="0" baseline="0">
                  <a:ln/>
                  <a:solidFill>
                    <a:srgbClr val="333333"/>
                  </a:solidFill>
                  <a:latin typeface="微软雅黑"/>
                  <a:ea typeface="微软雅黑"/>
                  <a:cs typeface="Arial"/>
                  <a:sym typeface="微软雅黑"/>
                  <a:rtl val="0"/>
                </a:rPr>
                <a:t>。</a:t>
              </a: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A9ABDF6A-2EB6-681B-AF50-B755FD1DCA27}"/>
                </a:ext>
              </a:extLst>
            </p:cNvPr>
            <p:cNvSpPr txBox="1"/>
            <p:nvPr/>
          </p:nvSpPr>
          <p:spPr>
            <a:xfrm>
              <a:off x="8149331" y="2758066"/>
              <a:ext cx="17235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spc="0" baseline="0">
                  <a:ln/>
                  <a:solidFill>
                    <a:srgbClr val="333333"/>
                  </a:solidFill>
                  <a:latin typeface="微软雅黑"/>
                  <a:ea typeface="微软雅黑"/>
                  <a:sym typeface="微软雅黑"/>
                  <a:rtl val="0"/>
                </a:rPr>
                <a:t>判定：神经肌肉疲劳。</a:t>
              </a: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13228DA0-F482-4DB1-CB41-F83B08799DBB}"/>
                </a:ext>
              </a:extLst>
            </p:cNvPr>
            <p:cNvSpPr txBox="1"/>
            <p:nvPr/>
          </p:nvSpPr>
          <p:spPr>
            <a:xfrm>
              <a:off x="8149331" y="3023384"/>
              <a:ext cx="25090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b="1" spc="0" baseline="0" dirty="0">
                  <a:ln/>
                  <a:solidFill>
                    <a:srgbClr val="228B22"/>
                  </a:solidFill>
                  <a:latin typeface="微软雅黑"/>
                  <a:ea typeface="微软雅黑"/>
                  <a:sym typeface="微软雅黑"/>
                  <a:rtl val="0"/>
                </a:rPr>
                <a:t>指令：建议将深蹲由</a:t>
              </a:r>
              <a:r>
                <a:rPr lang="zh-CN" altLang="en-US" sz="1200" b="1" spc="0" baseline="0" dirty="0">
                  <a:ln/>
                  <a:solidFill>
                    <a:srgbClr val="228B22"/>
                  </a:solidFill>
                  <a:latin typeface="Arial"/>
                  <a:ea typeface="微软雅黑"/>
                  <a:cs typeface="Arial"/>
                  <a:sym typeface="Arial"/>
                  <a:rtl val="0"/>
                </a:rPr>
                <a:t>5</a:t>
              </a:r>
              <a:r>
                <a:rPr lang="zh-CN" altLang="en-US" sz="1200" b="1" spc="0" baseline="0" dirty="0">
                  <a:ln/>
                  <a:solidFill>
                    <a:srgbClr val="228B22"/>
                  </a:solidFill>
                  <a:latin typeface="微软雅黑"/>
                  <a:ea typeface="微软雅黑"/>
                  <a:cs typeface="Arial"/>
                  <a:sym typeface="微软雅黑"/>
                  <a:rtl val="0"/>
                </a:rPr>
                <a:t>组减至</a:t>
              </a:r>
              <a:r>
                <a:rPr lang="zh-CN" altLang="en-US" sz="1200" b="1" spc="0" baseline="0" dirty="0">
                  <a:ln/>
                  <a:solidFill>
                    <a:srgbClr val="228B22"/>
                  </a:solidFill>
                  <a:latin typeface="Arial"/>
                  <a:ea typeface="微软雅黑"/>
                  <a:cs typeface="Arial"/>
                  <a:sym typeface="Arial"/>
                  <a:rtl val="0"/>
                </a:rPr>
                <a:t>4</a:t>
              </a:r>
              <a:r>
                <a:rPr lang="zh-CN" altLang="en-US" sz="1200" b="1" spc="0" baseline="0" dirty="0">
                  <a:ln/>
                  <a:solidFill>
                    <a:srgbClr val="228B22"/>
                  </a:solidFill>
                  <a:latin typeface="微软雅黑"/>
                  <a:ea typeface="微软雅黑"/>
                  <a:cs typeface="Arial"/>
                  <a:sym typeface="微软雅黑"/>
                  <a:rtl val="0"/>
                </a:rPr>
                <a:t>组。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9266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>
            <a:extLst>
              <a:ext uri="{FF2B5EF4-FFF2-40B4-BE49-F238E27FC236}">
                <a16:creationId xmlns:a16="http://schemas.microsoft.com/office/drawing/2014/main" id="{DBEB793B-4099-7CE1-3835-F76FE29F5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52" y="2308227"/>
            <a:ext cx="5614148" cy="2895638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C55A5F48-3DF3-187D-D462-875E50E3F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08227"/>
            <a:ext cx="5904683" cy="265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005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2235232"/>
            <a:ext cx="9144000" cy="2387600"/>
          </a:xfrm>
        </p:spPr>
        <p:txBody>
          <a:bodyPr anchor="ctr"/>
          <a:lstStyle/>
          <a:p>
            <a:r>
              <a:rPr lang="zh-CN" altLang="en-US"/>
              <a:t>谢谢大家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1763</TotalTime>
  <Words>618</Words>
  <Application>Microsoft Office PowerPoint</Application>
  <PresentationFormat>宽屏</PresentationFormat>
  <Paragraphs>114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-apple-system</vt:lpstr>
      <vt:lpstr>Inter</vt:lpstr>
      <vt:lpstr>宋体</vt:lpstr>
      <vt:lpstr>微软雅黑</vt:lpstr>
      <vt:lpstr>Arial</vt:lpstr>
      <vt:lpstr>Times New Roman</vt:lpstr>
      <vt:lpstr>Office 主题</vt:lpstr>
      <vt:lpstr>基于多模态AI教练进行训练负荷优化的效果研究：一项针对自我指导训练者的随机对照试验</vt:lpstr>
      <vt:lpstr> 科学训练的“理想”与“现实”</vt:lpstr>
      <vt:lpstr>PowerPoint 演示文稿</vt:lpstr>
      <vt:lpstr>实验方案的可行性论证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AI教练工具的核心展示</vt:lpstr>
      <vt:lpstr>PowerPoint 演示文稿</vt:lpstr>
      <vt:lpstr>PowerPoint 演示文稿</vt:lpstr>
      <vt:lpstr>PowerPoint 演示文稿</vt:lpstr>
      <vt:lpstr>PowerPoint 演示文稿</vt:lpstr>
      <vt:lpstr>谢谢大家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阶段性进度汇报</dc:title>
  <dc:creator/>
  <cp:lastModifiedBy>天元 何</cp:lastModifiedBy>
  <cp:revision>50</cp:revision>
  <dcterms:created xsi:type="dcterms:W3CDTF">2025-05-13T23:48:41Z</dcterms:created>
  <dcterms:modified xsi:type="dcterms:W3CDTF">2025-10-06T02:30:53Z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2052-12.9.0.21218</vt:lpwstr>
  </property>
  <property fmtid="{D5CDD505-2E9C-101B-9397-08002B2CF9AE}" pid="3" name="ICV">
    <vt:lpwstr>B75C98F4C40948689CB49D1002CA5FAC</vt:lpwstr>
  </property>
</Properties>
</file>